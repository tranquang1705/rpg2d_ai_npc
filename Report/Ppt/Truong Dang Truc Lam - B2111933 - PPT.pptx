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8" r:id="rId4"/>
    <p:sldId id="262" r:id="rId5"/>
    <p:sldId id="263" r:id="rId6"/>
    <p:sldId id="268" r:id="rId7"/>
    <p:sldId id="257" r:id="rId8"/>
    <p:sldId id="259" r:id="rId9"/>
    <p:sldId id="264" r:id="rId10"/>
    <p:sldId id="265" r:id="rId11"/>
    <p:sldId id="266" r:id="rId12"/>
    <p:sldId id="267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FEF"/>
    <a:srgbClr val="1F5CA9"/>
    <a:srgbClr val="1F5CAA"/>
    <a:srgbClr val="CCFFFF"/>
    <a:srgbClr val="FFFFFF"/>
    <a:srgbClr val="27ACE3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36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6E45B1-F7AE-43A9-B2A1-7314FA5CE12B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66D42-7DEB-4D77-8971-1766CE180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28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486081" y="3611095"/>
            <a:ext cx="11205713" cy="1440522"/>
          </a:xfrm>
        </p:spPr>
        <p:txBody>
          <a:bodyPr anchor="t" anchorCtr="0">
            <a:norm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defRPr sz="3200" b="1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93142" y="2428447"/>
            <a:ext cx="11205713" cy="1182648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68" y="1183068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2" y="5347386"/>
            <a:ext cx="11205713" cy="492125"/>
          </a:xfrm>
        </p:spPr>
        <p:txBody>
          <a:bodyPr>
            <a:noAutofit/>
          </a:bodyPr>
          <a:lstStyle>
            <a:lvl1pPr marL="0" indent="0" algn="l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add presenter | Date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98718" y="5185785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33270" y="6478829"/>
            <a:ext cx="8961120" cy="11346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7F9EF6-3408-0D90-40EC-E08D2B02779F}"/>
              </a:ext>
            </a:extLst>
          </p:cNvPr>
          <p:cNvSpPr txBox="1"/>
          <p:nvPr userDrawn="1"/>
        </p:nvSpPr>
        <p:spPr>
          <a:xfrm>
            <a:off x="10124841" y="6467839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688488-479D-AB5D-C59C-601F1E1F288C}"/>
              </a:ext>
            </a:extLst>
          </p:cNvPr>
          <p:cNvSpPr/>
          <p:nvPr userDrawn="1"/>
        </p:nvSpPr>
        <p:spPr>
          <a:xfrm>
            <a:off x="11537004" y="6559299"/>
            <a:ext cx="340536" cy="17037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9E22E6B-CFD7-77F0-233E-660CDF738771}"/>
              </a:ext>
            </a:extLst>
          </p:cNvPr>
          <p:cNvSpPr txBox="1">
            <a:spLocks/>
          </p:cNvSpPr>
          <p:nvPr userDrawn="1"/>
        </p:nvSpPr>
        <p:spPr>
          <a:xfrm>
            <a:off x="11471662" y="6458314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000" b="1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280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0" y="1225262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add presenter | Date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0713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32917" y="6481985"/>
            <a:ext cx="8961120" cy="11346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add presenter | Date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59C80C0-1870-FEE9-A583-DA16235CC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4220" y="6478829"/>
            <a:ext cx="8961120" cy="11346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171C3B7-8353-DD25-5B07-10A1A6F460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4368F2-C88A-4D70-3B44-7581ADC71E2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AE119F-50AD-2187-F53D-C029A648621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9CCA49-4386-8CF5-117B-E4BFC03A736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22ECB67-A862-ED3E-EF70-A151EAE406AD}"/>
              </a:ext>
            </a:extLst>
          </p:cNvPr>
          <p:cNvSpPr txBox="1"/>
          <p:nvPr userDrawn="1"/>
        </p:nvSpPr>
        <p:spPr>
          <a:xfrm>
            <a:off x="10502962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3B8820C-ED70-91BD-0EE7-9365C8F15B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89BB8B7F-E65A-2B23-CBF8-A125DD29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/>
          </p:nvPr>
        </p:nvSpPr>
        <p:spPr>
          <a:xfrm>
            <a:off x="1487553" y="2039938"/>
            <a:ext cx="9834113" cy="1655762"/>
          </a:xfrm>
        </p:spPr>
        <p:txBody>
          <a:bodyPr anchor="b" anchorCtr="0">
            <a:noAutofit/>
          </a:bodyPr>
          <a:lstStyle>
            <a:lvl1pPr algn="l">
              <a:defRPr sz="4800" b="1">
                <a:solidFill>
                  <a:srgbClr val="00AFEF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09" y="3125891"/>
            <a:ext cx="404788" cy="40478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6870833-A090-2FC4-5912-C2D6C88612A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3A4C1548-DAF8-7811-AD5C-086ADE642C95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DF397E-0964-19E3-3D29-4BF5AE20ED69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D6A55E-FCEC-1A21-4FB9-1AF1ED781E5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A7836A-4A30-2561-AA4B-98F38D1A9F0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4C04067-9571-D949-58CF-3A60577C57A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A4F8271-FD06-2438-CFB7-3F76D949762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CDADCF46-A404-DF10-F07D-A239C8E9440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978CCFED-7040-5747-0179-1AF652AB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98DD7559-E714-D42A-A835-F976F0436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442D298-D3B2-1903-881A-4CED53243C38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150" y="147090"/>
            <a:ext cx="0" cy="30480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2C90A11-799F-F2FE-D3C6-9B60E3AD5BFD}"/>
              </a:ext>
            </a:extLst>
          </p:cNvPr>
          <p:cNvSpPr txBox="1"/>
          <p:nvPr userDrawn="1"/>
        </p:nvSpPr>
        <p:spPr>
          <a:xfrm>
            <a:off x="159150" y="157053"/>
            <a:ext cx="110296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1F5CAA"/>
                </a:solidFill>
                <a:latin typeface="Readex Pro" pitchFamily="2" charset="-78"/>
                <a:cs typeface="Readex Pro" pitchFamily="2" charset="-78"/>
              </a:rPr>
              <a:t>Graduation Thesis: Developing an Automated Deployment System for Cloud Infrastructure Provisioning and Application Deployment	</a:t>
            </a:r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66896" y="6488271"/>
            <a:ext cx="8961120" cy="1133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99117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410" y="1000664"/>
            <a:ext cx="10370389" cy="738772"/>
          </a:xfrm>
        </p:spPr>
        <p:txBody>
          <a:bodyPr>
            <a:normAutofit/>
          </a:bodyPr>
          <a:lstStyle>
            <a:lvl1pPr>
              <a:defRPr lang="en-US" sz="40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410" y="1790383"/>
            <a:ext cx="10370390" cy="4386580"/>
          </a:xfrm>
        </p:spPr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solidFill>
                  <a:srgbClr val="1F5CA9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solidFill>
                  <a:srgbClr val="1F5CA9"/>
                </a:solidFill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solidFill>
                  <a:srgbClr val="1F5CA9"/>
                </a:solidFill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solidFill>
                  <a:srgbClr val="1F5CA9"/>
                </a:solidFill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solidFill>
                  <a:srgbClr val="1F5CA9"/>
                </a:solidFill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81" y="1200932"/>
            <a:ext cx="338236" cy="33823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E896E5-AB0B-ABF2-F541-548D70DF16A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E7016E-5C25-89AC-E3E9-89EB47F0A81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33B369-34FD-38B1-40F4-836D92B18F93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CF3CD0-0780-0107-D9DB-DE3A0686537F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116B1A76-6786-C06A-D6C0-A0BC7A7F25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9005CE5F-4F8E-66A1-F81A-540454C06D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6E2CA9E6-1E82-4B20-FB07-FD5250BFF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01D08-7B61-A5E4-6967-A20D749A90C3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150" y="147090"/>
            <a:ext cx="0" cy="30480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4AD6AB-23EE-E2C1-24BD-712F0B7D3F85}"/>
              </a:ext>
            </a:extLst>
          </p:cNvPr>
          <p:cNvSpPr txBox="1"/>
          <p:nvPr userDrawn="1"/>
        </p:nvSpPr>
        <p:spPr>
          <a:xfrm>
            <a:off x="159150" y="157053"/>
            <a:ext cx="110296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1F5CAA"/>
                </a:solidFill>
                <a:latin typeface="Readex Pro" pitchFamily="2" charset="-78"/>
                <a:cs typeface="Readex Pro" pitchFamily="2" charset="-78"/>
              </a:rPr>
              <a:t>Graduation Thesis: Developing an Automated Deployment System for Cloud Infrastructure Provisioning and Application Deployment	</a:t>
            </a:r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C97F628-B079-2940-2E4F-049E98731294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8560CBA-FB38-D549-7788-5A7F86AD1A8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B756CF-635F-2E57-8722-72C3D8408D40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44B8DB-D90F-26D8-B105-AECC09EE310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95BB7A6-D4CE-39DA-0C0F-8FA03C1C389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0C7246-1027-A415-A357-8ED6859B41A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5A1153-1465-6C9E-072E-0CB9EA95C83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63DC1F8A-1143-0496-727C-A5E2853ADB4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79EA280-7079-2671-7431-D4C8A282BD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BECDF71-9E3F-1FDA-7294-59E6E404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C457288-A298-8307-CA3A-BCC9B567B11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A4107E3-FCC1-2FA8-940D-66942BC6AEA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AAE776-427C-454C-BFB3-E077817B15D9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0771E7-4B20-1F40-140A-4B261F8E428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D22E2F-B2A6-D479-E446-9453ECC0398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D558C3-688C-AE5D-7773-5245FB2D1C5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EC6A0FB-F699-CD35-E089-2BA15C86614F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DBA8FFA0-0FBE-EFB1-2CB7-431B66DFA7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21FF757A-9B60-2BBB-5CA6-A10C29CC4C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DE528345-AB37-A617-0E65-50934E1E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84EA878-CEF8-6FB2-A540-C6A97C21EAF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A66E662-A492-8194-8ADC-3598CFA592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218C06-B8B4-2F96-C140-7BA78387F4C3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0EE1EC-9EC8-D030-C6C2-5FAAFD03683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54EBD89-8FC7-F26D-23AE-AAB67F8274D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BA63AE-E9B0-994C-3D89-26F246E87C8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AD3D64-DCBC-C25B-3D52-B8EFE45118C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228C82C3-CBBB-F4F2-8ED2-54CA733BBD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1F522C1A-84E2-80A8-C6F7-B05A1C8A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4E85E39C-F5A6-84A8-D43C-44C336DD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0BCA23-68B0-63A7-A73B-EFC23283BDC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63CD6AD-4253-51A2-A566-BB6B7D849D8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83A458-D564-08E2-48BE-8576EA6126DD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71C8A4-C658-2658-0973-AA88EDE1D4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8366489-BD44-2B4C-DDA0-3AD9135A43A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722696-6207-C6F8-AD0A-3AC757C034B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ED87827-8B15-2E13-32B7-99C6EC9889F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C3BA3247-1921-72DB-7520-8D4E50C990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D910A593-E300-33C3-FBE8-D93BACDD6C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D2501568-239C-83F7-5DD0-657DBF00C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386DC99-8F32-11E9-983C-B3C39D2459F4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3D1BD4B-6E3C-FAF0-9C5D-40A11B8635C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0977BD-8ECF-5110-F1F4-0937C2E1125A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66D88B-91F5-F3BF-F212-0F4AE14A651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BE89AD-C6CF-2A50-8DC2-85D9791E461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9D9B3C8-41F7-9472-9833-36699C4652B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0AB2170-F31A-5854-12E4-933981ADDC3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7CB6D149-9BC6-BE51-71B6-D144F8192F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F8523E06-FA89-E334-682A-F7E2E1F1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20FC346D-E32C-F851-0C12-1AF7BAC4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DD19746-30EB-A83A-D21A-F1B9E16D247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2E2A0A4-5A53-F038-F5EB-BD8F1E5AFD7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1F6732-8091-1AE1-6E1D-6954DC3EA4F0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A0811A-4588-6194-86AC-E194A3F1DFA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D4FBC2-A787-B800-17C5-0A781E726CD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EFD89B-7B87-AF4F-814F-0AA460F23D1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41C4A7F-7300-21FE-EA50-16E1A5A77E98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45B877AE-7BB3-BD6D-0542-D559E20091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6016BCA3-25B1-AB94-888D-5DD70978FD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4DAE0421-35C8-A44D-DB29-498D0E12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56579B3-3250-5A93-A619-C502AF4378C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00BC45EF-8099-BFBE-CB9B-3D5894AB918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B97C89-93B1-15A9-90AD-50C9C5302608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47C513-B9CB-E55A-A268-4D351439A6E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2BC9A06-D004-8B99-6028-4768BCA72E0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DAD25D-CCE9-7A57-F420-B77E7815229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DC1981-6459-59D5-0815-171F02D5ED1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1245F4A-AB03-5AB1-0A83-90E93017E3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FEBFB8CF-A0C2-3CAE-ED9D-44D609BD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1FA38EFC-6D53-C543-BD40-EAB93D10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B3FECD7-B809-C513-A765-543A8AA0930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5F4ED96-5A50-7897-C9D3-D6C5F7F2464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5E1B64-47A0-177B-E38E-FFCB1BFB7F03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D30235-6AFE-D5FB-9E67-891624ADA5E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668F9CF-08F2-8D07-00BA-ACA2889A790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243AC87-0F13-59D7-0A50-B5018743B78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D41F68F-BF55-4FE9-5090-3BEA11863EE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671AF42-A968-E709-F974-3786306B76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05C9C037-721A-EE13-7858-CB03EA8D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1947D90C-2FFF-4BCF-955E-477E804F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name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Cover Photo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QR Code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CF3A4AC-8C33-1F5F-4FCF-36E48B971DE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1EE6362-FF42-B158-14D7-791E563A4063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BCA2BB-3905-70EA-8E3B-4C4C23F4B242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DE44E1-B632-C94B-C2E5-B6511AB5D1A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9379C1-1F55-27CD-8F20-239AEED92B4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9B14EA4-6EC6-3850-7D93-4497D01D4F9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B51D4C4-7625-4EBC-C374-BA737125147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8720C55-B1E8-DEB6-C7AB-97941AEE105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94FD199-97C2-38C6-8106-E7B191AA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7108A6F0-993E-B1CF-C4F9-364A0D521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13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B6A1C3F-E095-6603-EB6A-4692D7DC4D7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D484E77-EB85-6D96-B62E-324A0D7B3563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5F61A-FC38-10EB-9F34-BDAF8DF522A3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F45F-CE0A-F387-F44D-1D30A1F7C6D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F60203-170A-C54E-4359-94613593BE2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28C187-091A-1C47-C59F-5206838AE8E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0BE4EB-93C3-DE8A-E5FE-5F7784F916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821A8640-C550-B1AE-0B4C-F969DC9A61D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40A9790D-D392-1687-4196-57E7AF2A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1B874F62-0481-F0D1-C531-35980622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 dirty="0"/>
              <a:t>Insert photo #1</a:t>
            </a:r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#2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#3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#5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#4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48535E-1DD2-7B67-FDAB-C062065B5FB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AD74DFB-3387-82CA-DCBC-554151885FB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2A8137-C994-2B6F-C3A5-BD9618F8FF3F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78CE0C-4765-B88E-0528-CE00C820B77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13D7AA8-6FFC-F2C3-785E-062ECC4ED58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69E49A-EDDB-7575-6801-C788712B815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6D4431F-E9C5-9BF5-9401-B2EFB1930B0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EC0A2792-06AE-7615-A081-77FCBDDEB3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7BD2C8B8-1DA8-CC71-639A-9C33900D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92FC2236-5102-CDC0-2E5E-2AA120B7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BE1441-A7C4-36F6-C4F4-9100027A0B6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BE4B83F-5D8C-7F33-3016-2442DC2FC17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720DA-518E-AAAA-F408-8FD447F87015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2642A7-3527-8237-8F2D-C2631D6524D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6BAECC-4432-738B-ECBB-0057206A64D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95D43E-8493-3BB9-29D7-930B3183397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389D17-E10E-30AC-A150-DCEE1AD6D3A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C37F936C-906B-25E9-11BB-6DA34ADC42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E8D7227-1155-98FF-5470-13137C4A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F8CD56B0-3886-6989-B381-59404EB87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FA4B3AA-22E9-7751-468B-D7808BAF44B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747DA11-94E3-B2DA-114B-E1D69C75BE6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D6C4A-F51A-64E8-8A49-49C141862BBC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9645F9-6CC7-6F42-6379-6F00AB90708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E0E806-C242-0D32-B65D-E8E53A33CDA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E01F7E8-B82D-3942-44A2-8312FA5A492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922989-8C7F-DE1C-F9DB-3819FD7E31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5ADE44CC-E174-8BE4-0522-DD862811ED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9DE29959-9E0B-0A99-71BE-E27767F0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F607A11D-8A45-DFF7-EE6E-2CD55230B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32772FD-D424-B383-49DC-161E8C8DFF5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5574E33-7FA3-EB5A-07DA-B0D592DE755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D0B717-8345-25F8-2957-47BBC585EC0F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31ED58-20F8-A968-3866-C42E815D154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F877E4-63EA-ACE6-E342-DC584FC089F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E9476C-9B90-B9D1-4C52-6CA3CA8EC91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E388C27-8095-81DC-7EE3-CCEF9DECDE4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BBDAE94A-EB44-AF0F-9F35-A4791C430EB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189598B-13E1-FDF8-9B2D-1A850E76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5DDB4F9D-2C19-583B-3A9D-50BA2EC5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5AEB09C-7C0D-C0E3-7B98-21C40CB9A184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0832186-EAAB-4BE8-90C4-6BC4D82856C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9693BE-FF51-213B-F8C5-08BD83810D46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185E88-EE79-628D-B92A-D7691650663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37B433-287E-7247-5AB4-57A8A9309D0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C13FAF-24C8-411A-86C1-49DA84B86D1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874890-26DA-8C8C-6D51-799D76D3804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16BB26A-88E2-E41F-A0CD-D9C042B623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76FEF495-01CA-8881-23CF-4596A08A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1BCCF94D-F923-D87D-7129-CC43A7BA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9919531-5790-1B13-2BBC-E44A0729F8B7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C6611E1-0E92-CFBF-33DE-3FE881954955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EDC3AD-682C-96BE-4565-69E8B40A78DA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E3977B-8545-D9C4-3AAB-28F9DD6F3DF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E7BC02-C481-879F-5E13-66665A95668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90FDD4A-0B65-E851-C888-C3E4747E68E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9020A6-9AE4-1C5E-2382-92C731256B0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77D4506D-DA98-1098-1F12-442ACBBE50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5DF6567C-9B56-05C1-4116-2F8FE0DF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E0C7BC1C-FD72-64C1-CD8B-807BA95B6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A2A218B-FD80-D9A9-A563-EDD66C447C97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D18193-6D41-7E8F-A381-F645A445BD8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0DE44E-0F54-4683-B3FC-23CC354865C4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19DC06-DF8A-8075-CDF6-1D816B36D85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9F593B-7FEA-F5D2-C5B2-F34F4F27CD9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386CB8E-6A41-6224-EDAA-82C150F4F1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5016A6-8328-D979-F3B1-3699FE7C12D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1883C3A-31E7-5C99-C60E-FB33D489FE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AAF4B286-E3B1-4602-9B2B-E971F31B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D23BE6BC-821E-A5D1-30D2-E3CB2214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E5A36C-8554-0354-077E-075F4F5F3955}"/>
              </a:ext>
            </a:extLst>
          </p:cNvPr>
          <p:cNvSpPr txBox="1"/>
          <p:nvPr userDrawn="1"/>
        </p:nvSpPr>
        <p:spPr>
          <a:xfrm>
            <a:off x="159150" y="160990"/>
            <a:ext cx="105414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1F5CAA"/>
                </a:solidFill>
                <a:latin typeface="Readex Pro" pitchFamily="2" charset="-78"/>
                <a:cs typeface="Readex Pro" pitchFamily="2" charset="-78"/>
              </a:rPr>
              <a:t>Graduation Thesis: Developing an Automated Deployment System for Cloud Infrastructure Provisioning and Application Deployment	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D3EA8D-EF76-7D04-1E41-1D2EEA40C746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150" y="147090"/>
            <a:ext cx="0" cy="30480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82EDF61-0E98-DA36-3E26-D168E759754A}"/>
              </a:ext>
            </a:extLst>
          </p:cNvPr>
          <p:cNvSpPr/>
          <p:nvPr userDrawn="1"/>
        </p:nvSpPr>
        <p:spPr>
          <a:xfrm>
            <a:off x="11537004" y="6559299"/>
            <a:ext cx="340536" cy="17037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F5C25A6-8095-6AF2-C9C3-8CD0FED2FB3C}"/>
              </a:ext>
            </a:extLst>
          </p:cNvPr>
          <p:cNvSpPr txBox="1">
            <a:spLocks/>
          </p:cNvSpPr>
          <p:nvPr userDrawn="1"/>
        </p:nvSpPr>
        <p:spPr>
          <a:xfrm>
            <a:off x="11471662" y="6458314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DB983B-0A91-69E0-195A-772E71561D24}"/>
              </a:ext>
            </a:extLst>
          </p:cNvPr>
          <p:cNvSpPr txBox="1"/>
          <p:nvPr userDrawn="1"/>
        </p:nvSpPr>
        <p:spPr>
          <a:xfrm>
            <a:off x="10124841" y="6467839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DADC743-2431-45F2-79E2-121CA7F280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33270" y="6478829"/>
            <a:ext cx="8961120" cy="113469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79887EFC-47B1-9E40-0D8C-00E95C29EF5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EE3C0DB-B1FC-4FD9-6D12-4A8C131EE2D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806F485-7B56-F41A-BB6F-3E9B7BF9AD6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5A13944-4F33-47EC-96FA-50BC12ED342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57" name="Date Placeholder 3">
            <a:extLst>
              <a:ext uri="{FF2B5EF4-FFF2-40B4-BE49-F238E27FC236}">
                <a16:creationId xmlns:a16="http://schemas.microsoft.com/office/drawing/2014/main" id="{B137584B-E513-D305-AC1C-9A6C3A36A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58" name="Footer Placeholder 4">
            <a:extLst>
              <a:ext uri="{FF2B5EF4-FFF2-40B4-BE49-F238E27FC236}">
                <a16:creationId xmlns:a16="http://schemas.microsoft.com/office/drawing/2014/main" id="{5F1F2948-EE2B-7B83-70EC-1CA44DC0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31A7E-6BEF-3316-4498-2A5A8A7982D5}"/>
              </a:ext>
            </a:extLst>
          </p:cNvPr>
          <p:cNvSpPr txBox="1"/>
          <p:nvPr userDrawn="1"/>
        </p:nvSpPr>
        <p:spPr>
          <a:xfrm>
            <a:off x="159150" y="160990"/>
            <a:ext cx="105414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rPr>
              <a:t>Graduation Thesis: Developing an Automated Deployment System for Cloud Infrastructure Provisioning and Application Deployment	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8CE2DF-C0A3-0BC2-85DB-C3BA0A251C08}"/>
              </a:ext>
            </a:extLst>
          </p:cNvPr>
          <p:cNvCxnSpPr>
            <a:cxnSpLocks/>
          </p:cNvCxnSpPr>
          <p:nvPr userDrawn="1"/>
        </p:nvCxnSpPr>
        <p:spPr>
          <a:xfrm flipV="1">
            <a:off x="159150" y="147090"/>
            <a:ext cx="0" cy="30480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7AF6527-BFE4-537E-1308-488B162949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66896" y="6488271"/>
            <a:ext cx="8961120" cy="1133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E5CACFF-45E7-55D3-E5A5-653F2B8017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4E5C97-2B57-9E5D-764D-87DE472CB901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5E75459-D4C7-9354-A931-B335C406F5A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0EE6BD-EFE1-AFBA-1E5F-9B64FFE8B6B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1249A6-9C2C-8AA9-7B4D-3B74EC7BB0E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2B3CAD9-FCD5-AB71-2E3E-03FCB768FF8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4E90919-B9E0-2168-DD97-F4BCD8260673}"/>
              </a:ext>
            </a:extLst>
          </p:cNvPr>
          <p:cNvSpPr txBox="1"/>
          <p:nvPr userDrawn="1"/>
        </p:nvSpPr>
        <p:spPr>
          <a:xfrm>
            <a:off x="10099117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E2A85561-D248-4BA0-93D1-F7F0B4A9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B2E66308-078F-2D9B-D872-3883B077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87B9FD-C79A-8EEC-DA77-0430594CE6FC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4660008-7F5F-0A11-964B-A878CD65CF3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9D2699-A975-3955-567E-8D16A284D731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3125F0-F340-CFA8-92F8-610235DCCCF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C743FA-D9C9-C6C2-44F3-7300A846F325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1E68D7F-2272-301E-994D-57A01621A8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08B4A4-84FB-D350-B610-3F768FCC3D0F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F77AB56C-52A9-72A6-BE5C-712FF50C35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03EA8419-42D3-1B00-055A-95A63C389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0485261C-7BF5-B42D-297D-A35E47524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7C2E8D-A219-06CC-DDED-60563052D40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8339483-E992-0B16-C57C-FCA2197AF14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01984B-E435-DF86-91C0-A34A6136DB54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AE826F-6D23-1C12-4C77-DD6D4A76090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DD13BBB-17CE-445B-C2C2-2254F68DEBA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1CBAEE-DB37-69A6-C83C-9ED0BC3403D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28E06ED-9C8D-C1F3-B2C1-7E82A3E89B4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2282D43-F19B-36CA-D127-B9AFE4A33DA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C09A338B-CA30-F0C4-C424-A777C06D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A540C5A9-41E2-BA3D-15CF-D5824BC7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C50603-7118-372F-6CD8-67B3EA4744CC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6F76C3E-CA40-066E-6D9B-DDC46B954A8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87986D-55B9-3A95-61F3-24E53EB2E71B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3DF21-9E95-D191-1729-A6BD31DA188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2303C9-325E-4679-0C55-AA4CC39727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2D0F45-9137-6A7D-28A8-9A3BC979E4E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C045F73-3B00-AF17-A81A-929B412EAF3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57B47963-B402-88E5-A96F-E4D6CF5D437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4F74441E-7CED-96FA-08FA-C1E6108795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C7022278-3B3F-6183-1CA9-35D3E0A0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sp>
        <p:nvSpPr>
          <p:cNvPr id="18" name="Picture Placeholder 1"/>
          <p:cNvSpPr>
            <a:spLocks noGrp="1"/>
          </p:cNvSpPr>
          <p:nvPr>
            <p:ph type="pic" sz="quarter" idx="15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917F0B-3CB7-E0EA-BFAE-20D511EF880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408F28A-ACB2-6E48-D5E6-03F24C7118A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FF86E4-C720-0B16-79A3-87981D57083D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5A958-3EF5-C954-1BDD-5C44193C42D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75DDA0-8FC0-DB37-99A8-55D3DD65ED4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2E0A32-AF7C-F862-F2DF-150884F9200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F054695-BD09-A212-CA6E-A1D366705588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DA22685-D3D5-AF13-9F3C-2983763EFF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FB4B915C-60A3-0B79-5905-5A42CE54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8/5/2025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B38F3282-08F4-E668-5916-6C6A00B13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683CFCA1-DA12-C6FE-EFA3-0063CCBE582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FDDC007-A557-70A8-7900-FDAD65522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081" y="3521448"/>
            <a:ext cx="11205713" cy="1440522"/>
          </a:xfrm>
        </p:spPr>
        <p:txBody>
          <a:bodyPr>
            <a:normAutofit fontScale="90000"/>
          </a:bodyPr>
          <a:lstStyle/>
          <a:p>
            <a:r>
              <a:rPr lang="en-US"/>
              <a:t>DEVELOPING AN AUTOMATED DEPLOYMENT SYSTEM </a:t>
            </a:r>
            <a:br>
              <a:rPr lang="en-US"/>
            </a:br>
            <a:r>
              <a:rPr lang="en-US"/>
              <a:t>FOR CLOUD INFRASTRUCTURE PROVISIONING </a:t>
            </a:r>
            <a:br>
              <a:rPr lang="en-US"/>
            </a:br>
            <a:r>
              <a:rPr lang="en-US"/>
              <a:t>AND APPLICATION DEPLOYMENT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537F2-C3B5-487E-AF04-318467A15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143" y="2338800"/>
            <a:ext cx="11205713" cy="1182648"/>
          </a:xfrm>
        </p:spPr>
        <p:txBody>
          <a:bodyPr>
            <a:normAutofit/>
          </a:bodyPr>
          <a:lstStyle/>
          <a:p>
            <a:r>
              <a:rPr lang="en-US" sz="2400"/>
              <a:t>GRADUATION THESIS </a:t>
            </a:r>
            <a:br>
              <a:rPr lang="en-US"/>
            </a:br>
            <a:r>
              <a:rPr lang="en-US" sz="1800"/>
              <a:t>BACHELOR OF ENGINEERING IN </a:t>
            </a:r>
            <a:br>
              <a:rPr lang="en-US" sz="1800"/>
            </a:br>
            <a:r>
              <a:rPr lang="en-US" sz="1800"/>
              <a:t>INFORMATION TECHNOLOGY (HIGH-QUALITY PROGRAM)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8E8EE78-F375-F3CB-1895-8560D726CA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32213" y="5338421"/>
            <a:ext cx="7969537" cy="492125"/>
          </a:xfrm>
        </p:spPr>
        <p:txBody>
          <a:bodyPr numCol="2"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/>
              <a:t>Advisor: Dr. Thai Minh Tuan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/>
              <a:t>Student: Truong Dang Truc Lam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/>
              <a:t>Student ID: B2111933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BB5D1572-E9EE-E1F3-E57B-E04F136C515A}"/>
              </a:ext>
            </a:extLst>
          </p:cNvPr>
          <p:cNvSpPr txBox="1">
            <a:spLocks/>
          </p:cNvSpPr>
          <p:nvPr/>
        </p:nvSpPr>
        <p:spPr>
          <a:xfrm>
            <a:off x="485631" y="156976"/>
            <a:ext cx="11206163" cy="92775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bg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200"/>
              <a:t>MINISTRY OF EDUCATION AND TRAINING </a:t>
            </a:r>
            <a:br>
              <a:rPr lang="en-US" sz="2200"/>
            </a:br>
            <a:r>
              <a:rPr lang="en-US" sz="2200"/>
              <a:t>CAN THO UNIVERSITY </a:t>
            </a:r>
            <a:br>
              <a:rPr lang="en-US" sz="1900"/>
            </a:br>
            <a:r>
              <a:rPr lang="en-US" sz="1900"/>
              <a:t>COLLEGE OF INFORMATION AND COMMUNICATION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2087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build="p"/>
      <p:bldP spid="17" grpId="0" build="p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2">
            <a:extLst>
              <a:ext uri="{FF2B5EF4-FFF2-40B4-BE49-F238E27FC236}">
                <a16:creationId xmlns:a16="http://schemas.microsoft.com/office/drawing/2014/main" id="{183BD1B0-BB2E-AC80-6732-6699D811121F}"/>
              </a:ext>
            </a:extLst>
          </p:cNvPr>
          <p:cNvSpPr txBox="1">
            <a:spLocks/>
          </p:cNvSpPr>
          <p:nvPr/>
        </p:nvSpPr>
        <p:spPr>
          <a:xfrm>
            <a:off x="493143" y="886945"/>
            <a:ext cx="11205713" cy="144052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pPr algn="ctr"/>
            <a:r>
              <a:rPr lang="en-US" sz="5500" b="1">
                <a:solidFill>
                  <a:schemeClr val="bg1"/>
                </a:solidFill>
              </a:rPr>
              <a:t>AGENDA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79EA4-FBE2-A409-4D0D-69FB5DD27E57}"/>
              </a:ext>
            </a:extLst>
          </p:cNvPr>
          <p:cNvSpPr txBox="1"/>
          <p:nvPr/>
        </p:nvSpPr>
        <p:spPr>
          <a:xfrm>
            <a:off x="3152774" y="1983290"/>
            <a:ext cx="7477125" cy="315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  <a:defRPr/>
            </a:pPr>
            <a:r>
              <a:rPr kumimoji="0" lang="en-US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 Problem </a:t>
            </a:r>
            <a:r>
              <a:rPr kumimoji="0" lang="vi-VN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s</a:t>
            </a:r>
            <a:r>
              <a:rPr kumimoji="0" lang="en-US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tatement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  <a:defRPr/>
            </a:pPr>
            <a:r>
              <a:rPr kumimoji="0" lang="en-US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 </a:t>
            </a:r>
            <a:r>
              <a:rPr kumimoji="0" lang="vi-VN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Related </a:t>
            </a:r>
            <a:r>
              <a:rPr lang="vi-VN" sz="2800" spc="300">
                <a:solidFill>
                  <a:prstClr val="white"/>
                </a:solidFill>
                <a:latin typeface="Readex Pro" pitchFamily="2" charset="-78"/>
                <a:cs typeface="Readex Pro" pitchFamily="2" charset="-78"/>
              </a:rPr>
              <a:t>w</a:t>
            </a:r>
            <a:r>
              <a:rPr kumimoji="0" lang="vi-VN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ork</a:t>
            </a:r>
            <a:endParaRPr kumimoji="0" lang="en-US" sz="2800" i="0" u="none" strike="noStrike" kern="1200" cap="none" spc="300" normalizeH="0" baseline="0" noProof="0">
              <a:ln>
                <a:noFill/>
              </a:ln>
              <a:solidFill>
                <a:prstClr val="white"/>
              </a:solidFill>
              <a:uLnTx/>
              <a:uFillTx/>
              <a:latin typeface="Readex Pro" pitchFamily="2" charset="-78"/>
              <a:cs typeface="Readex Pro" pitchFamily="2" charset="-78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800" spc="300">
                <a:solidFill>
                  <a:prstClr val="white"/>
                </a:solidFill>
                <a:latin typeface="Readex Pro" pitchFamily="2" charset="-78"/>
                <a:cs typeface="Readex Pro" pitchFamily="2" charset="-78"/>
              </a:rPr>
              <a:t> Objectives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  <a:defRPr/>
            </a:pPr>
            <a:r>
              <a:rPr kumimoji="0" lang="en-US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 </a:t>
            </a:r>
            <a:r>
              <a:rPr kumimoji="0" lang="vi-VN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Research </a:t>
            </a:r>
            <a:r>
              <a:rPr lang="vi-VN" sz="2800" spc="300">
                <a:solidFill>
                  <a:prstClr val="white"/>
                </a:solidFill>
                <a:latin typeface="Readex Pro" pitchFamily="2" charset="-78"/>
                <a:cs typeface="Readex Pro" pitchFamily="2" charset="-78"/>
              </a:rPr>
              <a:t>s</a:t>
            </a:r>
            <a:r>
              <a:rPr kumimoji="0" lang="vi-VN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cope</a:t>
            </a:r>
            <a:endParaRPr kumimoji="0" lang="en-US" sz="2800" i="0" u="none" strike="noStrike" kern="1200" cap="none" spc="300" normalizeH="0" baseline="0" noProof="0">
              <a:ln>
                <a:noFill/>
              </a:ln>
              <a:solidFill>
                <a:prstClr val="white"/>
              </a:solidFill>
              <a:uLnTx/>
              <a:uFillTx/>
              <a:latin typeface="Readex Pro" pitchFamily="2" charset="-78"/>
              <a:cs typeface="Readex Pro" pitchFamily="2" charset="-78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  <a:defRPr/>
            </a:pPr>
            <a:r>
              <a:rPr kumimoji="0" lang="en-US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 </a:t>
            </a:r>
            <a:r>
              <a:rPr kumimoji="0" lang="vi-VN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Solution </a:t>
            </a:r>
            <a:r>
              <a:rPr lang="vi-VN" sz="2800" spc="300">
                <a:solidFill>
                  <a:prstClr val="white"/>
                </a:solidFill>
                <a:latin typeface="Readex Pro" pitchFamily="2" charset="-78"/>
                <a:cs typeface="Readex Pro" pitchFamily="2" charset="-78"/>
              </a:rPr>
              <a:t>i</a:t>
            </a:r>
            <a:r>
              <a:rPr kumimoji="0" lang="vi-VN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mplementation</a:t>
            </a:r>
            <a:endParaRPr kumimoji="0" lang="en-US" sz="2800" i="0" u="none" strike="noStrike" kern="1200" cap="none" spc="300" normalizeH="0" baseline="0" noProof="0">
              <a:ln>
                <a:noFill/>
              </a:ln>
              <a:solidFill>
                <a:prstClr val="white"/>
              </a:solidFill>
              <a:uLnTx/>
              <a:uFillTx/>
              <a:latin typeface="Readex Pro" pitchFamily="2" charset="-78"/>
              <a:cs typeface="Readex Pro" pitchFamily="2" charset="-78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  <a:defRPr/>
            </a:pPr>
            <a:r>
              <a:rPr kumimoji="0" lang="en-US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 </a:t>
            </a:r>
            <a:r>
              <a:rPr kumimoji="0" lang="vi-VN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Conclusion </a:t>
            </a:r>
            <a:r>
              <a:rPr lang="vi-VN" sz="2800" spc="300">
                <a:solidFill>
                  <a:prstClr val="white"/>
                </a:solidFill>
                <a:latin typeface="Readex Pro" pitchFamily="2" charset="-78"/>
                <a:cs typeface="Readex Pro" pitchFamily="2" charset="-78"/>
              </a:rPr>
              <a:t>a</a:t>
            </a:r>
            <a:r>
              <a:rPr kumimoji="0" lang="vi-VN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nd </a:t>
            </a:r>
            <a:r>
              <a:rPr lang="vi-VN" sz="2800" spc="300">
                <a:solidFill>
                  <a:prstClr val="white"/>
                </a:solidFill>
                <a:latin typeface="Readex Pro" pitchFamily="2" charset="-78"/>
                <a:cs typeface="Readex Pro" pitchFamily="2" charset="-78"/>
              </a:rPr>
              <a:t>f</a:t>
            </a:r>
            <a:r>
              <a:rPr kumimoji="0" lang="vi-VN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uture </a:t>
            </a:r>
            <a:r>
              <a:rPr lang="vi-VN" sz="2800" spc="300">
                <a:solidFill>
                  <a:prstClr val="white"/>
                </a:solidFill>
                <a:latin typeface="Readex Pro" pitchFamily="2" charset="-78"/>
                <a:cs typeface="Readex Pro" pitchFamily="2" charset="-78"/>
              </a:rPr>
              <a:t>w</a:t>
            </a:r>
            <a:r>
              <a:rPr kumimoji="0" lang="vi-VN" sz="2800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ork</a:t>
            </a:r>
            <a:endParaRPr lang="en-US" sz="2800">
              <a:latin typeface="Readex Pro" pitchFamily="2" charset="-78"/>
              <a:cs typeface="Readex P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9702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EE36-9447-487A-8672-BA03150D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1000664"/>
            <a:ext cx="10370389" cy="738772"/>
          </a:xfrm>
        </p:spPr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8D731-EFB1-4944-8942-170A4D235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790383"/>
            <a:ext cx="10370390" cy="43865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Cloud adoption rising across many enterprises.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Manual processes still widely in 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Increases risk of misconfiguration and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Inconsistencies across development to production.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Slows down CI/CD and collaboration.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Conflicts with modern DevOps principles.</a:t>
            </a:r>
          </a:p>
        </p:txBody>
      </p:sp>
    </p:spTree>
    <p:extLst>
      <p:ext uri="{BB962C8B-B14F-4D97-AF65-F5344CB8AC3E}">
        <p14:creationId xmlns:p14="http://schemas.microsoft.com/office/powerpoint/2010/main" val="29311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F62E6-4397-AB58-FB1F-83E66AEA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B3C5-89A1-4C7A-0B5B-C5C22DEF7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1000664"/>
            <a:ext cx="10370389" cy="738772"/>
          </a:xfrm>
        </p:spPr>
        <p:txBody>
          <a:bodyPr/>
          <a:lstStyle/>
          <a:p>
            <a:r>
              <a:rPr lang="en-US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CE5DB-E360-E014-10E0-B9BDA2C0E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790383"/>
            <a:ext cx="10370390" cy="43865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Automation helps reduce errors and effort.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IaC improves consistency but lacks flexibility.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Limited handling of dynamic resource demands.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CI/CD integration with cloud remains complex.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Failure recovery often needs manual steps.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Real environments not fully addressed.</a:t>
            </a:r>
          </a:p>
        </p:txBody>
      </p:sp>
    </p:spTree>
    <p:extLst>
      <p:ext uri="{BB962C8B-B14F-4D97-AF65-F5344CB8AC3E}">
        <p14:creationId xmlns:p14="http://schemas.microsoft.com/office/powerpoint/2010/main" val="220692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119DC-A839-2C5C-9BC6-45F1FEE79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8E352-06AB-70A9-F1AD-30F6E8DBD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1000664"/>
            <a:ext cx="10370389" cy="738772"/>
          </a:xfrm>
        </p:spPr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FE30C-D4C8-4670-0FAC-A3997F1F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790383"/>
            <a:ext cx="10370390" cy="43865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Automate cloud infrastructure provisioning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Automate remote configuration of cloud instances.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Apply containerization for application portability.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Minimize downtime with safe deployment strategies.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Enhance security for both infrastructure and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Integrate all steps into CI/CD pipeline.</a:t>
            </a:r>
          </a:p>
        </p:txBody>
      </p:sp>
    </p:spTree>
    <p:extLst>
      <p:ext uri="{BB962C8B-B14F-4D97-AF65-F5344CB8AC3E}">
        <p14:creationId xmlns:p14="http://schemas.microsoft.com/office/powerpoint/2010/main" val="288870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634552-DEAB-A1D3-E1EC-CC3A0F2280BC}"/>
              </a:ext>
            </a:extLst>
          </p:cNvPr>
          <p:cNvSpPr txBox="1"/>
          <p:nvPr/>
        </p:nvSpPr>
        <p:spPr>
          <a:xfrm>
            <a:off x="441730" y="1622396"/>
            <a:ext cx="2909887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en-US" sz="2400" i="0" u="none" strike="noStrike" kern="1200" cap="none" normalizeH="0" baseline="0" noProof="0">
                <a:ln>
                  <a:noFill/>
                </a:ln>
                <a:solidFill>
                  <a:srgbClr val="00AFEF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Cloud </a:t>
            </a:r>
            <a:r>
              <a:rPr kumimoji="0" lang="vi-VN" sz="2400" i="0" u="none" strike="noStrike" kern="1200" cap="none" normalizeH="0" baseline="0" noProof="0">
                <a:ln>
                  <a:noFill/>
                </a:ln>
                <a:solidFill>
                  <a:srgbClr val="00AFEF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computing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736C0-BD7C-B778-885D-D3FC7323B511}"/>
              </a:ext>
            </a:extLst>
          </p:cNvPr>
          <p:cNvSpPr txBox="1"/>
          <p:nvPr/>
        </p:nvSpPr>
        <p:spPr>
          <a:xfrm>
            <a:off x="5646071" y="1639802"/>
            <a:ext cx="828676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vi-VN" sz="2400" i="0" u="none" strike="noStrike" kern="1200" cap="none" spc="300" normalizeH="0" baseline="0" noProof="0">
                <a:ln>
                  <a:noFill/>
                </a:ln>
                <a:solidFill>
                  <a:srgbClr val="00AFEF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IaC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80CDC0-5A67-2ACB-7C89-4E3922F400D7}"/>
              </a:ext>
            </a:extLst>
          </p:cNvPr>
          <p:cNvSpPr txBox="1"/>
          <p:nvPr/>
        </p:nvSpPr>
        <p:spPr>
          <a:xfrm>
            <a:off x="469846" y="4071262"/>
            <a:ext cx="2809875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vi-VN" sz="2400" i="0" u="none" strike="noStrike" kern="1200" cap="none" normalizeH="0" baseline="0" noProof="0">
                <a:ln>
                  <a:noFill/>
                </a:ln>
                <a:solidFill>
                  <a:srgbClr val="00AFEF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Containerization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1B9AC-76A3-4353-D54F-56D4552BA059}"/>
              </a:ext>
            </a:extLst>
          </p:cNvPr>
          <p:cNvSpPr txBox="1"/>
          <p:nvPr/>
        </p:nvSpPr>
        <p:spPr>
          <a:xfrm>
            <a:off x="4087037" y="4071262"/>
            <a:ext cx="4000500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vi-VN" sz="2400" i="0" u="none" strike="noStrike" kern="1200" cap="none" normalizeH="0" baseline="0" noProof="0">
                <a:ln>
                  <a:noFill/>
                </a:ln>
                <a:solidFill>
                  <a:srgbClr val="00AFEF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Application security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A1E1F-9D7D-5B47-D16C-40B89869C7A5}"/>
              </a:ext>
            </a:extLst>
          </p:cNvPr>
          <p:cNvSpPr txBox="1"/>
          <p:nvPr/>
        </p:nvSpPr>
        <p:spPr>
          <a:xfrm>
            <a:off x="8190944" y="4075541"/>
            <a:ext cx="3457573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vi-VN" sz="2400" i="0" u="none" strike="noStrike" kern="1200" cap="none" normalizeH="0" baseline="0" noProof="0">
                <a:ln>
                  <a:noFill/>
                </a:ln>
                <a:solidFill>
                  <a:srgbClr val="00AFEF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Deployment strategy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B5107D-1D5D-514A-3D98-5F0FA7F2D2FE}"/>
              </a:ext>
            </a:extLst>
          </p:cNvPr>
          <p:cNvSpPr txBox="1"/>
          <p:nvPr/>
        </p:nvSpPr>
        <p:spPr>
          <a:xfrm>
            <a:off x="9081531" y="1637325"/>
            <a:ext cx="1676401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vi-VN" sz="2400" i="0" u="none" strike="noStrike" kern="1200" cap="none" normalizeH="0" baseline="0" noProof="0">
                <a:ln>
                  <a:noFill/>
                </a:ln>
                <a:solidFill>
                  <a:srgbClr val="00AFEF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CI/CD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B631C4-B250-A81B-AC47-5A396EDEBEDC}"/>
              </a:ext>
            </a:extLst>
          </p:cNvPr>
          <p:cNvSpPr/>
          <p:nvPr/>
        </p:nvSpPr>
        <p:spPr>
          <a:xfrm>
            <a:off x="960386" y="2182375"/>
            <a:ext cx="1828800" cy="1097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F5CA9"/>
              </a:solidFill>
            </a:endParaRPr>
          </a:p>
        </p:txBody>
      </p:sp>
      <p:pic>
        <p:nvPicPr>
          <p:cNvPr id="11" name="Picture 2" descr="AWS icon SVG Vector &amp; PNG Free Download | UXWing">
            <a:extLst>
              <a:ext uri="{FF2B5EF4-FFF2-40B4-BE49-F238E27FC236}">
                <a16:creationId xmlns:a16="http://schemas.microsoft.com/office/drawing/2014/main" id="{D264EC8F-9118-A281-2671-7FDE58EC1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146" y="2246834"/>
            <a:ext cx="1097280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F2072CF1-FD86-1D08-5C8E-90B069414118}"/>
              </a:ext>
            </a:extLst>
          </p:cNvPr>
          <p:cNvSpPr/>
          <p:nvPr/>
        </p:nvSpPr>
        <p:spPr>
          <a:xfrm>
            <a:off x="4796669" y="2179885"/>
            <a:ext cx="1097280" cy="1097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F5CA9"/>
              </a:solidFill>
            </a:endParaRPr>
          </a:p>
        </p:txBody>
      </p:sp>
      <p:pic>
        <p:nvPicPr>
          <p:cNvPr id="13" name="Picture 4" descr="Getting Started With Terraform in DevOps | Aviator">
            <a:extLst>
              <a:ext uri="{FF2B5EF4-FFF2-40B4-BE49-F238E27FC236}">
                <a16:creationId xmlns:a16="http://schemas.microsoft.com/office/drawing/2014/main" id="{F6FE86DC-60D1-C7FD-AE0E-26447D93F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342" y="2288994"/>
            <a:ext cx="1175933" cy="88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F567F4-A501-6605-E7BA-D66349F18936}"/>
              </a:ext>
            </a:extLst>
          </p:cNvPr>
          <p:cNvSpPr txBox="1"/>
          <p:nvPr/>
        </p:nvSpPr>
        <p:spPr>
          <a:xfrm>
            <a:off x="419842" y="3325043"/>
            <a:ext cx="2909887" cy="39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en-US" i="0" u="none" strike="noStrike" kern="1200" cap="none" normalizeH="0" baseline="0" noProof="0">
                <a:ln>
                  <a:noFill/>
                </a:ln>
                <a:solidFill>
                  <a:srgbClr val="1F5CA9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AWS - Free Tier</a:t>
            </a:r>
            <a:endParaRPr kumimoji="0" lang="vi-VN" i="0" u="none" strike="noStrike" kern="1200" cap="none" normalizeH="0" baseline="0" noProof="0">
              <a:ln>
                <a:noFill/>
              </a:ln>
              <a:solidFill>
                <a:srgbClr val="1F5CA9"/>
              </a:solidFill>
              <a:uLnTx/>
              <a:uFillTx/>
              <a:latin typeface="Readex Pro" pitchFamily="2" charset="-78"/>
              <a:cs typeface="Readex Pro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EC07D1-C742-7F95-307A-DCCC279859B7}"/>
              </a:ext>
            </a:extLst>
          </p:cNvPr>
          <p:cNvSpPr txBox="1"/>
          <p:nvPr/>
        </p:nvSpPr>
        <p:spPr>
          <a:xfrm>
            <a:off x="3890364" y="3325043"/>
            <a:ext cx="2909887" cy="39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vi-VN" i="0" u="none" strike="noStrike" kern="1200" cap="none" normalizeH="0" baseline="0" noProof="0">
                <a:ln>
                  <a:noFill/>
                </a:ln>
                <a:solidFill>
                  <a:srgbClr val="1F5CA9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Te</a:t>
            </a:r>
            <a:r>
              <a:rPr kumimoji="0" lang="en-US" i="0" u="none" strike="noStrike" kern="1200" cap="none" normalizeH="0" baseline="0" noProof="0">
                <a:ln>
                  <a:noFill/>
                </a:ln>
                <a:solidFill>
                  <a:srgbClr val="1F5CA9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rraform</a:t>
            </a:r>
            <a:endParaRPr kumimoji="0" lang="vi-VN" i="0" u="none" strike="noStrike" kern="1200" cap="none" normalizeH="0" baseline="0" noProof="0">
              <a:ln>
                <a:noFill/>
              </a:ln>
              <a:solidFill>
                <a:srgbClr val="1F5CA9"/>
              </a:solidFill>
              <a:uLnTx/>
              <a:uFillTx/>
              <a:latin typeface="Readex Pro" pitchFamily="2" charset="-78"/>
              <a:cs typeface="Readex Pro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1B1F89-0EF2-F08C-EF8B-3108059F55C1}"/>
              </a:ext>
            </a:extLst>
          </p:cNvPr>
          <p:cNvSpPr txBox="1"/>
          <p:nvPr/>
        </p:nvSpPr>
        <p:spPr>
          <a:xfrm>
            <a:off x="5352603" y="3331574"/>
            <a:ext cx="2909887" cy="39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>
                <a:solidFill>
                  <a:srgbClr val="1F5CA9"/>
                </a:solidFill>
                <a:latin typeface="Readex Pro" pitchFamily="2" charset="-78"/>
                <a:cs typeface="Readex Pro" pitchFamily="2" charset="-78"/>
              </a:rPr>
              <a:t>Ansible</a:t>
            </a:r>
            <a:endParaRPr kumimoji="0" lang="vi-VN" i="0" u="none" strike="noStrike" kern="1200" cap="none" normalizeH="0" baseline="0" noProof="0">
              <a:ln>
                <a:noFill/>
              </a:ln>
              <a:solidFill>
                <a:srgbClr val="1F5CA9"/>
              </a:solidFill>
              <a:uLnTx/>
              <a:uFillTx/>
              <a:latin typeface="Readex Pro" pitchFamily="2" charset="-78"/>
              <a:cs typeface="Readex Pro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0A8985-8A9D-A683-3B44-86ADE82251FC}"/>
              </a:ext>
            </a:extLst>
          </p:cNvPr>
          <p:cNvSpPr txBox="1"/>
          <p:nvPr/>
        </p:nvSpPr>
        <p:spPr>
          <a:xfrm>
            <a:off x="8479604" y="3426824"/>
            <a:ext cx="2909887" cy="39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>
                <a:solidFill>
                  <a:srgbClr val="1F5CA9"/>
                </a:solidFill>
                <a:latin typeface="Readex Pro" pitchFamily="2" charset="-78"/>
                <a:cs typeface="Readex Pro" pitchFamily="2" charset="-78"/>
              </a:rPr>
              <a:t>GitHub Actions</a:t>
            </a:r>
            <a:endParaRPr kumimoji="0" lang="vi-VN" i="0" u="none" strike="noStrike" kern="1200" cap="none" normalizeH="0" baseline="0" noProof="0">
              <a:ln>
                <a:noFill/>
              </a:ln>
              <a:solidFill>
                <a:srgbClr val="1F5CA9"/>
              </a:solidFill>
              <a:uLnTx/>
              <a:uFillTx/>
              <a:latin typeface="Readex Pro" pitchFamily="2" charset="-78"/>
              <a:cs typeface="Readex Pro" pitchFamily="2" charset="-78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B89715-248C-C36D-1DAE-7A8129D0EBE0}"/>
              </a:ext>
            </a:extLst>
          </p:cNvPr>
          <p:cNvSpPr/>
          <p:nvPr/>
        </p:nvSpPr>
        <p:spPr>
          <a:xfrm>
            <a:off x="6258907" y="2179885"/>
            <a:ext cx="1097280" cy="1097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F5CA9"/>
              </a:solidFill>
            </a:endParaRPr>
          </a:p>
        </p:txBody>
      </p:sp>
      <p:pic>
        <p:nvPicPr>
          <p:cNvPr id="20" name="Picture 10" descr="Ansible Introduction (en) - Desotech">
            <a:extLst>
              <a:ext uri="{FF2B5EF4-FFF2-40B4-BE49-F238E27FC236}">
                <a16:creationId xmlns:a16="http://schemas.microsoft.com/office/drawing/2014/main" id="{989C2FC4-05B8-6699-05EA-3BB8052A8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981"/>
          <a:stretch>
            <a:fillRect/>
          </a:stretch>
        </p:blipFill>
        <p:spPr bwMode="auto">
          <a:xfrm>
            <a:off x="6117626" y="2160796"/>
            <a:ext cx="1379842" cy="10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06243C2-19CB-EAF5-E12C-D8514BECEDEB}"/>
              </a:ext>
            </a:extLst>
          </p:cNvPr>
          <p:cNvGrpSpPr/>
          <p:nvPr/>
        </p:nvGrpSpPr>
        <p:grpSpPr>
          <a:xfrm>
            <a:off x="9371091" y="2187732"/>
            <a:ext cx="1097280" cy="1097280"/>
            <a:chOff x="9371094" y="2255505"/>
            <a:chExt cx="1097280" cy="109728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149B3D9-D209-2CD3-FFEC-D8DB76BD8659}"/>
                </a:ext>
              </a:extLst>
            </p:cNvPr>
            <p:cNvSpPr/>
            <p:nvPr/>
          </p:nvSpPr>
          <p:spPr>
            <a:xfrm>
              <a:off x="9371094" y="2255505"/>
              <a:ext cx="1097280" cy="10972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F5CA9"/>
                </a:solidFill>
              </a:endParaRPr>
            </a:p>
          </p:txBody>
        </p:sp>
        <p:pic>
          <p:nvPicPr>
            <p:cNvPr id="23" name="Picture 14" descr="GitHub Actions SVG and transparent PNG icons | TechIcons">
              <a:extLst>
                <a:ext uri="{FF2B5EF4-FFF2-40B4-BE49-F238E27FC236}">
                  <a16:creationId xmlns:a16="http://schemas.microsoft.com/office/drawing/2014/main" id="{0747AFC5-84EE-884D-2CBB-4317B38C3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81804" y="2426923"/>
              <a:ext cx="705488" cy="7054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2E309533-8C28-C29C-E62D-5DC440C7AC81}"/>
              </a:ext>
            </a:extLst>
          </p:cNvPr>
          <p:cNvSpPr/>
          <p:nvPr/>
        </p:nvSpPr>
        <p:spPr>
          <a:xfrm>
            <a:off x="1234705" y="4592398"/>
            <a:ext cx="1280160" cy="1097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F5CA9"/>
              </a:solidFill>
            </a:endParaRPr>
          </a:p>
        </p:txBody>
      </p:sp>
      <p:pic>
        <p:nvPicPr>
          <p:cNvPr id="25" name="Picture 16" descr="Docker, logo, logos icon - Free download on Iconfinder">
            <a:extLst>
              <a:ext uri="{FF2B5EF4-FFF2-40B4-BE49-F238E27FC236}">
                <a16:creationId xmlns:a16="http://schemas.microsoft.com/office/drawing/2014/main" id="{C2D2BE31-2356-8531-C393-1FE31EC2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05" y="4592398"/>
            <a:ext cx="1088339" cy="108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06EF79B-5498-5494-78C6-50E2BEA0918D}"/>
              </a:ext>
            </a:extLst>
          </p:cNvPr>
          <p:cNvSpPr txBox="1"/>
          <p:nvPr/>
        </p:nvSpPr>
        <p:spPr>
          <a:xfrm>
            <a:off x="419841" y="5739813"/>
            <a:ext cx="2909887" cy="39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en-US" i="0" u="none" strike="noStrike" kern="1200" cap="none" normalizeH="0" baseline="0" noProof="0">
                <a:ln>
                  <a:noFill/>
                </a:ln>
                <a:solidFill>
                  <a:srgbClr val="1F5CA9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Docker</a:t>
            </a:r>
            <a:endParaRPr kumimoji="0" lang="vi-VN" i="0" u="none" strike="noStrike" kern="1200" cap="none" normalizeH="0" baseline="0" noProof="0">
              <a:ln>
                <a:noFill/>
              </a:ln>
              <a:solidFill>
                <a:srgbClr val="1F5CA9"/>
              </a:solidFill>
              <a:uLnTx/>
              <a:uFillTx/>
              <a:latin typeface="Readex Pro" pitchFamily="2" charset="-78"/>
              <a:cs typeface="Readex Pro" pitchFamily="2" charset="-78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1BC4EC9-2199-23A1-D06D-11A807924F2B}"/>
              </a:ext>
            </a:extLst>
          </p:cNvPr>
          <p:cNvGrpSpPr/>
          <p:nvPr/>
        </p:nvGrpSpPr>
        <p:grpSpPr>
          <a:xfrm>
            <a:off x="5492929" y="4589884"/>
            <a:ext cx="1188720" cy="1097280"/>
            <a:chOff x="5492929" y="4542259"/>
            <a:chExt cx="1188720" cy="109728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1E6F9D3-D84C-7B05-36C8-331D7AFF4C98}"/>
                </a:ext>
              </a:extLst>
            </p:cNvPr>
            <p:cNvSpPr/>
            <p:nvPr/>
          </p:nvSpPr>
          <p:spPr>
            <a:xfrm>
              <a:off x="5492929" y="4542259"/>
              <a:ext cx="1188720" cy="10972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F5CA9"/>
                </a:solidFill>
              </a:endParaRPr>
            </a:p>
          </p:txBody>
        </p:sp>
        <p:pic>
          <p:nvPicPr>
            <p:cNvPr id="29" name="Picture 18" descr="Web security Generic color lineal-color icon | Freepik">
              <a:extLst>
                <a:ext uri="{FF2B5EF4-FFF2-40B4-BE49-F238E27FC236}">
                  <a16:creationId xmlns:a16="http://schemas.microsoft.com/office/drawing/2014/main" id="{4ABCC069-5C96-F6D4-1729-3AA81D4FAA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9830" y="4704081"/>
              <a:ext cx="774917" cy="774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3072F23-7A74-11AE-1DBF-DBAC6739AE17}"/>
              </a:ext>
            </a:extLst>
          </p:cNvPr>
          <p:cNvSpPr txBox="1"/>
          <p:nvPr/>
        </p:nvSpPr>
        <p:spPr>
          <a:xfrm>
            <a:off x="4632344" y="5739813"/>
            <a:ext cx="2909887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en-US" i="0" u="none" strike="noStrike" kern="1200" cap="none" normalizeH="0" baseline="0" noProof="0">
                <a:ln>
                  <a:noFill/>
                </a:ln>
                <a:solidFill>
                  <a:srgbClr val="1F5CA9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Web application security</a:t>
            </a:r>
            <a:endParaRPr kumimoji="0" lang="vi-VN" i="0" u="none" strike="noStrike" kern="1200" cap="none" normalizeH="0" baseline="0" noProof="0">
              <a:ln>
                <a:noFill/>
              </a:ln>
              <a:solidFill>
                <a:srgbClr val="1F5CA9"/>
              </a:solidFill>
              <a:uLnTx/>
              <a:uFillTx/>
              <a:latin typeface="Readex Pro" pitchFamily="2" charset="-78"/>
              <a:cs typeface="Readex Pro" pitchFamily="2" charset="-78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C453631-E529-1852-0863-26B7F327A162}"/>
              </a:ext>
            </a:extLst>
          </p:cNvPr>
          <p:cNvSpPr/>
          <p:nvPr/>
        </p:nvSpPr>
        <p:spPr>
          <a:xfrm>
            <a:off x="9005333" y="4598408"/>
            <a:ext cx="1828800" cy="1097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F5CA9"/>
              </a:solidFill>
            </a:endParaRPr>
          </a:p>
        </p:txBody>
      </p:sp>
      <p:sp>
        <p:nvSpPr>
          <p:cNvPr id="32" name="Cube 31">
            <a:extLst>
              <a:ext uri="{FF2B5EF4-FFF2-40B4-BE49-F238E27FC236}">
                <a16:creationId xmlns:a16="http://schemas.microsoft.com/office/drawing/2014/main" id="{AEE48778-4002-BFF3-57EB-4EACF19516E1}"/>
              </a:ext>
            </a:extLst>
          </p:cNvPr>
          <p:cNvSpPr/>
          <p:nvPr/>
        </p:nvSpPr>
        <p:spPr>
          <a:xfrm>
            <a:off x="9934547" y="4883069"/>
            <a:ext cx="566057" cy="505098"/>
          </a:xfrm>
          <a:prstGeom prst="cub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F5CA9"/>
              </a:solidFill>
            </a:endParaRPr>
          </a:p>
        </p:txBody>
      </p:sp>
      <p:sp>
        <p:nvSpPr>
          <p:cNvPr id="33" name="Cube 32">
            <a:extLst>
              <a:ext uri="{FF2B5EF4-FFF2-40B4-BE49-F238E27FC236}">
                <a16:creationId xmlns:a16="http://schemas.microsoft.com/office/drawing/2014/main" id="{763F426A-7D65-63E3-6543-9478D741D1DE}"/>
              </a:ext>
            </a:extLst>
          </p:cNvPr>
          <p:cNvSpPr/>
          <p:nvPr/>
        </p:nvSpPr>
        <p:spPr>
          <a:xfrm>
            <a:off x="9298775" y="4910546"/>
            <a:ext cx="566057" cy="505098"/>
          </a:xfrm>
          <a:prstGeom prst="cub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F5CA9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3A48A0-52F6-19F2-E1E5-E20645CCDC29}"/>
              </a:ext>
            </a:extLst>
          </p:cNvPr>
          <p:cNvSpPr txBox="1"/>
          <p:nvPr/>
        </p:nvSpPr>
        <p:spPr>
          <a:xfrm>
            <a:off x="8464789" y="5744226"/>
            <a:ext cx="2909887" cy="39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en-US" i="0" u="none" strike="noStrike" kern="1200" cap="none" normalizeH="0" baseline="0" noProof="0">
                <a:ln>
                  <a:noFill/>
                </a:ln>
                <a:solidFill>
                  <a:srgbClr val="1F5CA9"/>
                </a:solidFill>
                <a:uLnTx/>
                <a:uFillTx/>
                <a:latin typeface="Readex Pro" pitchFamily="2" charset="-78"/>
                <a:cs typeface="Readex Pro" pitchFamily="2" charset="-78"/>
              </a:rPr>
              <a:t>Blue-Green</a:t>
            </a:r>
            <a:endParaRPr kumimoji="0" lang="vi-VN" i="0" u="none" strike="noStrike" kern="1200" cap="none" normalizeH="0" baseline="0" noProof="0">
              <a:ln>
                <a:noFill/>
              </a:ln>
              <a:solidFill>
                <a:srgbClr val="1F5CA9"/>
              </a:solidFill>
              <a:uLnTx/>
              <a:uFillTx/>
              <a:latin typeface="Readex Pro" pitchFamily="2" charset="-78"/>
              <a:cs typeface="Readex Pro" pitchFamily="2" charset="-78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A9C9BBD-6F73-E526-068F-FD2DEDA8965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89" y="885066"/>
            <a:ext cx="324997" cy="324997"/>
          </a:xfrm>
          <a:prstGeom prst="rect">
            <a:avLst/>
          </a:prstGeom>
        </p:spPr>
      </p:pic>
      <p:sp>
        <p:nvSpPr>
          <p:cNvPr id="38" name="Title 1">
            <a:extLst>
              <a:ext uri="{FF2B5EF4-FFF2-40B4-BE49-F238E27FC236}">
                <a16:creationId xmlns:a16="http://schemas.microsoft.com/office/drawing/2014/main" id="{61FA31B7-FA28-252B-08EF-0D3A30E8E305}"/>
              </a:ext>
            </a:extLst>
          </p:cNvPr>
          <p:cNvSpPr txBox="1">
            <a:spLocks/>
          </p:cNvSpPr>
          <p:nvPr/>
        </p:nvSpPr>
        <p:spPr>
          <a:xfrm>
            <a:off x="1073712" y="719564"/>
            <a:ext cx="10370389" cy="7387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sz="4000" b="1">
                <a:solidFill>
                  <a:srgbClr val="00AFEF"/>
                </a:solidFill>
              </a:rPr>
              <a:t>RESEARCH SCOPE</a:t>
            </a:r>
          </a:p>
          <a:p>
            <a:endParaRPr lang="en-US" sz="4000" b="1">
              <a:solidFill>
                <a:srgbClr val="00AF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48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2" grpId="0" animBg="1"/>
      <p:bldP spid="14" grpId="0"/>
      <p:bldP spid="15" grpId="0"/>
      <p:bldP spid="16" grpId="0"/>
      <p:bldP spid="17" grpId="0"/>
      <p:bldP spid="19" grpId="0" animBg="1"/>
      <p:bldP spid="24" grpId="0" animBg="1"/>
      <p:bldP spid="26" grpId="0"/>
      <p:bldP spid="30" grpId="0"/>
      <p:bldP spid="31" grpId="0" animBg="1"/>
      <p:bldP spid="32" grpId="0" animBg="1"/>
      <p:bldP spid="33" grpId="0" animBg="1"/>
      <p:bldP spid="34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D5534-7827-4BC2-AA37-164B475AC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7553" y="2039938"/>
            <a:ext cx="9834113" cy="1655762"/>
          </a:xfrm>
        </p:spPr>
        <p:txBody>
          <a:bodyPr/>
          <a:lstStyle/>
          <a:p>
            <a:r>
              <a:rPr lang="en-US"/>
              <a:t>SOLUTION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203357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5DDF898B-C64A-0275-C998-5C03A5F1C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7255"/>
            <a:ext cx="12192000" cy="568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2FA1C-E0A8-B5BC-FE9C-9592478B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59058E3B-AE20-6220-6232-177B1F97D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698"/>
            <a:ext cx="12192000" cy="572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6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FE31D-90E5-43EC-08E5-18D7CE2FF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76410D0D-85CB-D494-7D77-FEC40A212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3502"/>
            <a:ext cx="12192000" cy="573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4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7DC1-F9BA-9746-F1DC-94E4B4A8B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473EDA02-1A9C-3277-021E-4AAEAAD41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26" y="561529"/>
            <a:ext cx="12192000" cy="573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14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AD674-6C97-6581-F56F-DE6D8B70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F8502-6C3B-7BF6-B70E-E936802E9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1000664"/>
            <a:ext cx="10370389" cy="738772"/>
          </a:xfrm>
        </p:spPr>
        <p:txBody>
          <a:bodyPr/>
          <a:lstStyle/>
          <a:p>
            <a:r>
              <a:rPr lang="en-US"/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20A7E-E729-51DA-3F6F-77478ED04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790383"/>
            <a:ext cx="10370390" cy="4386580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800">
                <a:solidFill>
                  <a:srgbClr val="00AFEF"/>
                </a:solidFill>
              </a:rPr>
              <a:t>Conclusion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Demonstrated full automation from provisioning to deployment.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Ensured consistency, scalability and security.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Operated reliably even under AWS Free Tier constraints.</a:t>
            </a:r>
          </a:p>
          <a:p>
            <a:pPr>
              <a:spcBef>
                <a:spcPts val="1000"/>
              </a:spcBef>
            </a:pPr>
            <a:r>
              <a:rPr lang="en-US" sz="2800">
                <a:solidFill>
                  <a:srgbClr val="00AFEF"/>
                </a:solidFill>
              </a:rPr>
              <a:t>Future work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Expand with CDN and AWS-native components.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Explore hybrid or multi-cloud deployments.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Integrate compliance checks and AI-based scaling.	</a:t>
            </a:r>
          </a:p>
        </p:txBody>
      </p:sp>
    </p:spTree>
    <p:extLst>
      <p:ext uri="{BB962C8B-B14F-4D97-AF65-F5344CB8AC3E}">
        <p14:creationId xmlns:p14="http://schemas.microsoft.com/office/powerpoint/2010/main" val="76621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/>
              <a:t>THANK YOU VERY MUCH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E8CBC-CC0F-41DD-9762-03FD26D3B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/>
              <a:t>Can Tho University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5072</TotalTime>
  <Words>304</Words>
  <Application>Microsoft Office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Barlow</vt:lpstr>
      <vt:lpstr>Calibri</vt:lpstr>
      <vt:lpstr>K2D</vt:lpstr>
      <vt:lpstr>Readex Pro</vt:lpstr>
      <vt:lpstr>Office Theme</vt:lpstr>
      <vt:lpstr>DEVELOPING AN AUTOMATED DEPLOYMENT SYSTEM  FOR CLOUD INFRASTRUCTURE PROVISIONING  AND APPLICATION DEPLOYMENT </vt:lpstr>
      <vt:lpstr>PowerPoint Presentation</vt:lpstr>
      <vt:lpstr>PROBLEM STATEMENT</vt:lpstr>
      <vt:lpstr>RELATED WORK</vt:lpstr>
      <vt:lpstr>OBJECTIVES</vt:lpstr>
      <vt:lpstr>PowerPoint Presentation</vt:lpstr>
      <vt:lpstr>SOLUTION IMPLEMENTATION</vt:lpstr>
      <vt:lpstr>PowerPoint Presentation</vt:lpstr>
      <vt:lpstr>PowerPoint Presentation</vt:lpstr>
      <vt:lpstr>PowerPoint Presentation</vt:lpstr>
      <vt:lpstr>PowerPoint Presentation</vt:lpstr>
      <vt:lpstr>CONCLUSION AND FUTURE WORK</vt:lpstr>
      <vt:lpstr>THANK YOU VERY MUCH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Lam Sut</cp:lastModifiedBy>
  <cp:revision>241</cp:revision>
  <dcterms:created xsi:type="dcterms:W3CDTF">2022-07-01T08:15:51Z</dcterms:created>
  <dcterms:modified xsi:type="dcterms:W3CDTF">2025-08-05T11:55:30Z</dcterms:modified>
</cp:coreProperties>
</file>