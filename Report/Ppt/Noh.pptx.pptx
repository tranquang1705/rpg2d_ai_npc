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00" r:id="rId4"/>
    <p:sldId id="301" r:id="rId5"/>
    <p:sldId id="302" r:id="rId6"/>
    <p:sldId id="303" r:id="rId7"/>
    <p:sldId id="305" r:id="rId8"/>
    <p:sldId id="309" r:id="rId9"/>
    <p:sldId id="308" r:id="rId10"/>
    <p:sldId id="310" r:id="rId11"/>
    <p:sldId id="311" r:id="rId12"/>
    <p:sldId id="312" r:id="rId13"/>
    <p:sldId id="313" r:id="rId14"/>
    <p:sldId id="299" r:id="rId15"/>
  </p:sldIdLst>
  <p:sldSz cx="18288000" cy="10287000"/>
  <p:notesSz cx="6858000" cy="9144000"/>
  <p:embeddedFontLst>
    <p:embeddedFont>
      <p:font typeface="Calibri (MS) Bold" panose="020B0604020202020204" charset="0"/>
      <p:regular r:id="rId17"/>
    </p:embeddedFont>
    <p:embeddedFont>
      <p:font typeface="K2D Bold" panose="020B0604020202020204" charset="-34"/>
      <p:regular r:id="rId18"/>
    </p:embeddedFont>
    <p:embeddedFont>
      <p:font typeface="Readex Pro" panose="020B0604020202020204" charset="-78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29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3043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588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9664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74748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47142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5580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1709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2067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4478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70548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8835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88282" y="4568885"/>
            <a:ext cx="12687622" cy="1586693"/>
            <a:chOff x="-429270" y="1706648"/>
            <a:chExt cx="16916829" cy="5132433"/>
          </a:xfrm>
        </p:grpSpPr>
        <p:sp>
          <p:nvSpPr>
            <p:cNvPr id="3" name="Freeform 3"/>
            <p:cNvSpPr/>
            <p:nvPr/>
          </p:nvSpPr>
          <p:spPr>
            <a:xfrm>
              <a:off x="-286179" y="1706648"/>
              <a:ext cx="16630650" cy="3021990"/>
            </a:xfrm>
            <a:custGeom>
              <a:avLst/>
              <a:gdLst/>
              <a:ahLst/>
              <a:cxnLst/>
              <a:rect l="l" t="t" r="r" b="b"/>
              <a:pathLst>
                <a:path w="16630650" h="3021990">
                  <a:moveTo>
                    <a:pt x="0" y="0"/>
                  </a:moveTo>
                  <a:lnTo>
                    <a:pt x="16630650" y="0"/>
                  </a:lnTo>
                  <a:lnTo>
                    <a:pt x="16630650" y="3021990"/>
                  </a:lnTo>
                  <a:lnTo>
                    <a:pt x="0" y="3021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-429270" y="3817091"/>
              <a:ext cx="16916829" cy="30219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6480"/>
                </a:lnSpc>
              </a:pPr>
              <a:r>
                <a:rPr lang="en-US" sz="5400" b="1" dirty="0" smtClean="0">
                  <a:solidFill>
                    <a:srgbClr val="FFFF00"/>
                  </a:solidFill>
                  <a:latin typeface="K2D Bold"/>
                  <a:ea typeface="K2D Bold"/>
                  <a:cs typeface="K2D Bold"/>
                  <a:sym typeface="K2D Bold"/>
                </a:rPr>
                <a:t>AI-BASED NPC INTERACTION SYSTEM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 dirty="0" smtClean="0">
                  <a:solidFill>
                    <a:srgbClr val="FFFF00"/>
                  </a:solidFill>
                  <a:latin typeface="K2D Bold"/>
                  <a:ea typeface="K2D Bold"/>
                  <a:cs typeface="K2D Bold"/>
                  <a:sym typeface="K2D Bold"/>
                </a:rPr>
                <a:t>FOR VIDEO GAME</a:t>
              </a:r>
              <a:endParaRPr lang="en-US" sz="5400" b="1" dirty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endParaRPr>
            </a:p>
          </p:txBody>
        </p:sp>
      </p:grpSp>
      <p:sp>
        <p:nvSpPr>
          <p:cNvPr id="5" name="Freeform 5" descr="Logo chính thức trường Đại học Cần Thơ"/>
          <p:cNvSpPr/>
          <p:nvPr/>
        </p:nvSpPr>
        <p:spPr>
          <a:xfrm>
            <a:off x="8273277" y="1757980"/>
            <a:ext cx="1717632" cy="1717235"/>
          </a:xfrm>
          <a:custGeom>
            <a:avLst/>
            <a:gdLst/>
            <a:ahLst/>
            <a:cxnLst/>
            <a:rect l="l" t="t" r="r" b="b"/>
            <a:pathLst>
              <a:path w="1717632" h="1717235">
                <a:moveTo>
                  <a:pt x="0" y="0"/>
                </a:moveTo>
                <a:lnTo>
                  <a:pt x="1717632" y="0"/>
                </a:lnTo>
                <a:lnTo>
                  <a:pt x="1717632" y="1717235"/>
                </a:lnTo>
                <a:lnTo>
                  <a:pt x="0" y="1717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896600" y="7662490"/>
            <a:ext cx="8092280" cy="13159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040"/>
              </a:lnSpc>
            </a:pPr>
            <a:r>
              <a:rPr lang="en-US" sz="4200" b="1" spc="-22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Student:</a:t>
            </a: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r>
              <a:rPr lang="en-US" sz="4200" b="1" spc="-22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B2111946 – Tran Minh Quang</a:t>
            </a: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ctr">
              <a:lnSpc>
                <a:spcPts val="5040"/>
              </a:lnSpc>
            </a:pPr>
            <a:r>
              <a:rPr lang="en-US" sz="4200" b="1" spc="-222" dirty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 rot="39512">
            <a:off x="6645904" y="7119860"/>
            <a:ext cx="4972378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>
              <a:gd name="connsiteX0" fmla="*/ 0 w 18288000"/>
              <a:gd name="connsiteY0" fmla="*/ 0 h 636659"/>
              <a:gd name="connsiteX1" fmla="*/ 18288000 w 18288000"/>
              <a:gd name="connsiteY1" fmla="*/ 0 h 636659"/>
              <a:gd name="connsiteX2" fmla="*/ 18288000 w 18288000"/>
              <a:gd name="connsiteY2" fmla="*/ 636659 h 636659"/>
              <a:gd name="connsiteX3" fmla="*/ 0 w 18288000"/>
              <a:gd name="connsiteY3" fmla="*/ 636659 h 636659"/>
              <a:gd name="connsiteX4" fmla="*/ 0 w 18288000"/>
              <a:gd name="connsiteY4" fmla="*/ 0 h 63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Rectangle 17"/>
          <p:cNvSpPr/>
          <p:nvPr/>
        </p:nvSpPr>
        <p:spPr>
          <a:xfrm>
            <a:off x="3538254" y="3620897"/>
            <a:ext cx="1118767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000" dirty="0" smtClean="0">
                <a:solidFill>
                  <a:srgbClr val="FFFFFF"/>
                </a:solidFill>
                <a:latin typeface="Readex Pro"/>
                <a:ea typeface="Readex Pro"/>
                <a:cs typeface="Readex Pro"/>
                <a:sym typeface="Readex Pro"/>
              </a:rPr>
              <a:t>GRADUATION THESIS</a:t>
            </a:r>
          </a:p>
          <a:p>
            <a:pPr algn="ctr"/>
            <a:r>
              <a:rPr lang="en-US" sz="3000" dirty="0" smtClean="0">
                <a:solidFill>
                  <a:srgbClr val="FFFFFF"/>
                </a:solidFill>
                <a:latin typeface="Readex Pro"/>
                <a:cs typeface="Readex Pro"/>
                <a:sym typeface="Readex Pro"/>
              </a:rPr>
              <a:t>BACHELOR OF ENGINEERING IN</a:t>
            </a:r>
          </a:p>
          <a:p>
            <a:pPr algn="ctr"/>
            <a:r>
              <a:rPr lang="en-US" sz="3000" dirty="0" smtClean="0">
                <a:solidFill>
                  <a:srgbClr val="FFFFFF"/>
                </a:solidFill>
                <a:latin typeface="Readex Pro"/>
                <a:cs typeface="Readex Pro"/>
                <a:sym typeface="Readex Pro"/>
              </a:rPr>
              <a:t>INFORMATION TECHNOLOGY (HIGH-QUALITY PROGRAM</a:t>
            </a:r>
            <a:endParaRPr lang="en-US" sz="3000" dirty="0"/>
          </a:p>
        </p:txBody>
      </p:sp>
      <p:sp>
        <p:nvSpPr>
          <p:cNvPr id="20" name="TextBox 8"/>
          <p:cNvSpPr txBox="1"/>
          <p:nvPr/>
        </p:nvSpPr>
        <p:spPr>
          <a:xfrm>
            <a:off x="999803" y="7662490"/>
            <a:ext cx="8092280" cy="13159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040"/>
              </a:lnSpc>
            </a:pPr>
            <a:r>
              <a:rPr lang="en-US" sz="4200" b="1" spc="-22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Thesis Advisor:</a:t>
            </a: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r>
              <a:rPr lang="en-US" sz="4200" b="1" spc="-22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Dr. Thai Minh Tuan</a:t>
            </a: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l">
              <a:lnSpc>
                <a:spcPts val="5040"/>
              </a:lnSpc>
            </a:pPr>
            <a:endParaRPr lang="en-US" sz="4200" b="1" spc="-22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ctr">
              <a:lnSpc>
                <a:spcPts val="5040"/>
              </a:lnSpc>
            </a:pPr>
            <a:r>
              <a:rPr lang="en-US" sz="4200" b="1" spc="-222" dirty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0093" y="337034"/>
            <a:ext cx="9144000" cy="12908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</a:rPr>
              <a:t>MINISTRY OF EDUCATION AND TRAINING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CAN THO UNIVERSITY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200" dirty="0">
                <a:solidFill>
                  <a:schemeClr val="bg1"/>
                </a:solidFill>
              </a:rPr>
              <a:t>COLLEGE OF INFORMATION AND COMMUNICATION TECHNOLOGY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149122"/>
            <a:ext cx="162306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8640"/>
              </a:lnSpc>
            </a:pPr>
            <a:r>
              <a:rPr lang="en-US" sz="72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AGENDA</a:t>
            </a:r>
            <a:endParaRPr lang="en-US" sz="72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3086100"/>
            <a:ext cx="15784815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Problem Statement</a:t>
            </a:r>
          </a:p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Related Work</a:t>
            </a:r>
          </a:p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Objectives</a:t>
            </a:r>
          </a:p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Research Scope</a:t>
            </a:r>
          </a:p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Main Function</a:t>
            </a:r>
          </a:p>
          <a:p>
            <a:pPr marL="1410972" lvl="1" indent="-914400" algn="l">
              <a:lnSpc>
                <a:spcPts val="5520"/>
              </a:lnSpc>
              <a:buFont typeface="+mj-lt"/>
              <a:buAutoNum type="arabicPeriod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Conclusion and Future Work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86000" y="1576334"/>
            <a:ext cx="70866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PROBLEM STATMENT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3086100"/>
            <a:ext cx="15784815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Pre-scripted Dialogue Trees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Static NPC Behaviors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Disconnected Game Systems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No Voice Interaction Support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Limited Contextual Understanding </a:t>
            </a:r>
          </a:p>
          <a:p>
            <a:pPr marL="496572" lvl="1" algn="l">
              <a:lnSpc>
                <a:spcPts val="5520"/>
              </a:lnSpc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Wingdings" panose="05000000000000000000" pitchFamily="2" charset="2"/>
              </a:rPr>
              <a:t>   Reduced immersion &amp; predictable gameplay</a:t>
            </a:r>
            <a:endParaRPr lang="en-US" sz="4600" b="1" spc="-142" dirty="0">
              <a:solidFill>
                <a:srgbClr val="FFFFFF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524000" y="1917680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15792230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64320" y="1576334"/>
            <a:ext cx="56388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RELATED WORK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3086100"/>
            <a:ext cx="15784815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Skyrim – NPC Daily Routine Behavior System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AI Dungeon – LLM-Based Dynamic Story Generation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Inworld AI / Convai – Cloud-Based Conversational NPC Platforms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Virtual Assistants – Voice Command System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Other traditional NPC Systems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24000" y="1917680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3264658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64320" y="1576334"/>
            <a:ext cx="56388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OBJECTIVES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143000" y="2896197"/>
            <a:ext cx="15784815" cy="634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Develop a Voice-Driven NPC Interaction System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Implement AI-Powered Dynamic Dialogue Generation 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Design Autonomous NPC Daily Routine and Behaviors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Integrate a Quest Management System Connected to AI Dialogue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Build a Trading and Economy System Linked to NPC Behavior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Create a Unified Backend for STT, LLM, TTS and Game Logic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24000" y="1917680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</p:spTree>
    <p:extLst>
      <p:ext uri="{BB962C8B-B14F-4D97-AF65-F5344CB8AC3E}">
        <p14:creationId xmlns:p14="http://schemas.microsoft.com/office/powerpoint/2010/main" val="14277475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8" y="1261146"/>
            <a:ext cx="56388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Research Scope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sp>
        <p:nvSpPr>
          <p:cNvPr id="2" name="Rectangle 1"/>
          <p:cNvSpPr/>
          <p:nvPr/>
        </p:nvSpPr>
        <p:spPr>
          <a:xfrm>
            <a:off x="1506053" y="2576713"/>
            <a:ext cx="37362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STT Integration</a:t>
            </a:r>
            <a:endParaRPr lang="en-US" sz="4000" dirty="0"/>
          </a:p>
        </p:txBody>
      </p:sp>
      <p:sp>
        <p:nvSpPr>
          <p:cNvPr id="20" name="Rectangle 19"/>
          <p:cNvSpPr/>
          <p:nvPr/>
        </p:nvSpPr>
        <p:spPr>
          <a:xfrm>
            <a:off x="7086600" y="2601203"/>
            <a:ext cx="42673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Context-aware AI</a:t>
            </a:r>
            <a:endParaRPr lang="en-US" sz="4000" dirty="0"/>
          </a:p>
        </p:txBody>
      </p:sp>
      <p:sp>
        <p:nvSpPr>
          <p:cNvPr id="21" name="Rectangle 20"/>
          <p:cNvSpPr/>
          <p:nvPr/>
        </p:nvSpPr>
        <p:spPr>
          <a:xfrm>
            <a:off x="9964570" y="6181709"/>
            <a:ext cx="57177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NPC routine &amp; schedules</a:t>
            </a:r>
            <a:endParaRPr lang="en-US" sz="4000" dirty="0"/>
          </a:p>
        </p:txBody>
      </p:sp>
      <p:sp>
        <p:nvSpPr>
          <p:cNvPr id="22" name="Rectangle 21"/>
          <p:cNvSpPr/>
          <p:nvPr/>
        </p:nvSpPr>
        <p:spPr>
          <a:xfrm>
            <a:off x="12649200" y="2576713"/>
            <a:ext cx="43977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142" dirty="0" smtClean="0">
                <a:solidFill>
                  <a:srgbClr val="FFFFFF"/>
                </a:solidFill>
                <a:latin typeface="K2D Bold"/>
                <a:cs typeface="K2D Bold"/>
                <a:sym typeface="K2D Bold"/>
              </a:rPr>
              <a:t>STT Quest System</a:t>
            </a:r>
            <a:endParaRPr lang="en-US" sz="4000" dirty="0"/>
          </a:p>
        </p:txBody>
      </p:sp>
      <p:sp>
        <p:nvSpPr>
          <p:cNvPr id="23" name="Rectangle 22"/>
          <p:cNvSpPr/>
          <p:nvPr/>
        </p:nvSpPr>
        <p:spPr>
          <a:xfrm>
            <a:off x="2456998" y="6181709"/>
            <a:ext cx="60319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Database-driven Economy</a:t>
            </a:r>
            <a:endParaRPr lang="en-US" sz="4000" dirty="0"/>
          </a:p>
        </p:txBody>
      </p:sp>
      <p:pic>
        <p:nvPicPr>
          <p:cNvPr id="1026" name="Picture 2" descr="https://api.removal.ai/download/g2/preview/3664da2c-49b5-4bd7-8b56-10873aaf99a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39" y="3231579"/>
            <a:ext cx="2416231" cy="241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913" y="3284599"/>
            <a:ext cx="4108695" cy="27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803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0"/>
          <p:cNvGrpSpPr/>
          <p:nvPr/>
        </p:nvGrpSpPr>
        <p:grpSpPr>
          <a:xfrm>
            <a:off x="1694252" y="3926316"/>
            <a:ext cx="975080" cy="931269"/>
            <a:chOff x="1493214" y="3745174"/>
            <a:chExt cx="1427615" cy="1363472"/>
          </a:xfrm>
        </p:grpSpPr>
        <p:grpSp>
          <p:nvGrpSpPr>
            <p:cNvPr id="2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4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3335452" y="3349296"/>
            <a:ext cx="13325489" cy="2171014"/>
            <a:chOff x="0" y="0"/>
            <a:chExt cx="13715075" cy="2234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18792" cy="2234486"/>
            </a:xfrm>
            <a:custGeom>
              <a:avLst/>
              <a:gdLst/>
              <a:ahLst/>
              <a:cxnLst/>
              <a:rect l="l" t="t" r="r" b="b"/>
              <a:pathLst>
                <a:path w="13618792" h="2234486">
                  <a:moveTo>
                    <a:pt x="0" y="0"/>
                  </a:moveTo>
                  <a:lnTo>
                    <a:pt x="13618792" y="0"/>
                  </a:lnTo>
                  <a:lnTo>
                    <a:pt x="13618792" y="2234486"/>
                  </a:lnTo>
                  <a:lnTo>
                    <a:pt x="0" y="2234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96283" y="502862"/>
              <a:ext cx="13618792" cy="12287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8640"/>
                </a:lnSpc>
              </a:pPr>
              <a:r>
                <a:rPr lang="en-US" sz="7200" b="1" dirty="0" smtClean="0">
                  <a:solidFill>
                    <a:srgbClr val="FFFF00"/>
                  </a:solidFill>
                  <a:latin typeface="K2D Bold"/>
                  <a:ea typeface="K2D Bold"/>
                  <a:cs typeface="K2D Bold"/>
                  <a:sym typeface="K2D Bold"/>
                </a:rPr>
                <a:t>SOLUTION IMPLEMENTATION </a:t>
              </a:r>
              <a:endParaRPr lang="en-US" sz="7200" b="1" dirty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3854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7" y="1261146"/>
            <a:ext cx="12478203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SYSTEM INTERGRATION ARCHITECTURE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579043"/>
            <a:ext cx="7821116" cy="68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445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7" y="1261146"/>
            <a:ext cx="11792403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MAIN NPC ROUTINE LOOP SYSTEM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pic>
        <p:nvPicPr>
          <p:cNvPr id="20" name="Picture 1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60" y="2602800"/>
            <a:ext cx="8904922" cy="687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520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638800" y="2434687"/>
            <a:ext cx="6858000" cy="72020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456997" y="1261146"/>
            <a:ext cx="11792403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NPC QUEST ASSIGNMENT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pic>
        <p:nvPicPr>
          <p:cNvPr id="22" name="Picture 2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385" y="2625785"/>
            <a:ext cx="511683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47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7" y="1261146"/>
            <a:ext cx="11792403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NPC PATHFINDING (A* ALGORITHM)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438" y="2330723"/>
            <a:ext cx="6549362" cy="730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329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8" y="1261146"/>
            <a:ext cx="56388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Conclusion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sp>
        <p:nvSpPr>
          <p:cNvPr id="24" name="TextBox 10"/>
          <p:cNvSpPr txBox="1"/>
          <p:nvPr/>
        </p:nvSpPr>
        <p:spPr>
          <a:xfrm>
            <a:off x="1028700" y="3086100"/>
            <a:ext cx="15784815" cy="352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Voice-Driven Gameplay: Natural Speech Recognition &amp; TTS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Intelligent NPC Routines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Dynamic Quest System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Full-Stack Integration</a:t>
            </a:r>
          </a:p>
        </p:txBody>
      </p:sp>
    </p:spTree>
    <p:extLst>
      <p:ext uri="{BB962C8B-B14F-4D97-AF65-F5344CB8AC3E}">
        <p14:creationId xmlns:p14="http://schemas.microsoft.com/office/powerpoint/2010/main" val="280559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456998" y="1261146"/>
            <a:ext cx="5638800" cy="117354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8640"/>
              </a:lnSpc>
            </a:pPr>
            <a:r>
              <a:rPr lang="en-US" sz="4800" b="1" dirty="0" smtClean="0">
                <a:solidFill>
                  <a:srgbClr val="FFFF00"/>
                </a:solidFill>
                <a:latin typeface="K2D Bold"/>
                <a:ea typeface="K2D Bold"/>
                <a:cs typeface="K2D Bold"/>
                <a:sym typeface="K2D Bold"/>
              </a:rPr>
              <a:t>FUTURE WORK</a:t>
            </a:r>
            <a:endParaRPr lang="en-US" sz="4800" b="1" dirty="0">
              <a:solidFill>
                <a:srgbClr val="FFFF00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0051" y="243302"/>
            <a:ext cx="18023140" cy="497385"/>
            <a:chOff x="0" y="-47625"/>
            <a:chExt cx="24030854" cy="66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30854" cy="615554"/>
            </a:xfrm>
            <a:custGeom>
              <a:avLst/>
              <a:gdLst/>
              <a:ahLst/>
              <a:cxnLst/>
              <a:rect l="l" t="t" r="r" b="b"/>
              <a:pathLst>
                <a:path w="24030854" h="615554">
                  <a:moveTo>
                    <a:pt x="0" y="0"/>
                  </a:moveTo>
                  <a:lnTo>
                    <a:pt x="24030854" y="0"/>
                  </a:lnTo>
                  <a:lnTo>
                    <a:pt x="24030854" y="615554"/>
                  </a:lnTo>
                  <a:lnTo>
                    <a:pt x="0" y="615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030854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 dirty="0" smtClean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Thesis: AI-Based NPC INTERACTION SYSTEM FOR VIDEO GAME</a:t>
              </a:r>
              <a:endPara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rot="5019588">
            <a:off x="191293" y="498096"/>
            <a:ext cx="517515" cy="0"/>
          </a:xfrm>
          <a:prstGeom prst="line">
            <a:avLst/>
          </a:prstGeom>
          <a:ln w="28575" cap="rnd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3"/>
          <p:cNvGrpSpPr/>
          <p:nvPr/>
        </p:nvGrpSpPr>
        <p:grpSpPr>
          <a:xfrm>
            <a:off x="1516678" y="1602492"/>
            <a:ext cx="550407" cy="525677"/>
            <a:chOff x="1493214" y="3745174"/>
            <a:chExt cx="1427615" cy="1363472"/>
          </a:xfrm>
        </p:grpSpPr>
        <p:grpSp>
          <p:nvGrpSpPr>
            <p:cNvPr id="15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18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19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1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sp>
        <p:nvSpPr>
          <p:cNvPr id="24" name="TextBox 10"/>
          <p:cNvSpPr txBox="1"/>
          <p:nvPr/>
        </p:nvSpPr>
        <p:spPr>
          <a:xfrm>
            <a:off x="1028700" y="3086100"/>
            <a:ext cx="15784815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Enhanced Voice Recognition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Expanded NPC Behaviors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Improved AI Quality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Advanced Quest System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Combat Integration</a:t>
            </a:r>
          </a:p>
          <a:p>
            <a:pPr marL="1410972" lvl="1" indent="-9144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4600" b="1" spc="-142" dirty="0" smtClean="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Open World Expansion</a:t>
            </a:r>
          </a:p>
        </p:txBody>
      </p:sp>
    </p:spTree>
    <p:extLst>
      <p:ext uri="{BB962C8B-B14F-4D97-AF65-F5344CB8AC3E}">
        <p14:creationId xmlns:p14="http://schemas.microsoft.com/office/powerpoint/2010/main" val="15708272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450051" y="9636784"/>
            <a:ext cx="18288000" cy="636659"/>
          </a:xfrm>
          <a:custGeom>
            <a:avLst/>
            <a:gdLst/>
            <a:ahLst/>
            <a:cxnLst/>
            <a:rect l="l" t="t" r="r" b="b"/>
            <a:pathLst>
              <a:path w="18288000" h="636659">
                <a:moveTo>
                  <a:pt x="0" y="0"/>
                </a:moveTo>
                <a:lnTo>
                  <a:pt x="18288000" y="0"/>
                </a:lnTo>
                <a:lnTo>
                  <a:pt x="18288000" y="636659"/>
                </a:lnTo>
                <a:lnTo>
                  <a:pt x="0" y="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0"/>
          <p:cNvGrpSpPr/>
          <p:nvPr/>
        </p:nvGrpSpPr>
        <p:grpSpPr>
          <a:xfrm>
            <a:off x="1493214" y="3745174"/>
            <a:ext cx="1427615" cy="1363472"/>
            <a:chOff x="1493214" y="3745174"/>
            <a:chExt cx="1427615" cy="1363472"/>
          </a:xfrm>
        </p:grpSpPr>
        <p:grpSp>
          <p:nvGrpSpPr>
            <p:cNvPr id="2" name="Group 2"/>
            <p:cNvGrpSpPr/>
            <p:nvPr/>
          </p:nvGrpSpPr>
          <p:grpSpPr>
            <a:xfrm rot="-2838485">
              <a:off x="1497831" y="3740557"/>
              <a:ext cx="1273151" cy="1282386"/>
              <a:chOff x="0" y="0"/>
              <a:chExt cx="1697534" cy="1709848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2700" y="12700"/>
                <a:ext cx="1672082" cy="1684528"/>
              </a:xfrm>
              <a:custGeom>
                <a:avLst/>
                <a:gdLst/>
                <a:ahLst/>
                <a:cxnLst/>
                <a:rect l="l" t="t" r="r" b="b"/>
                <a:pathLst>
                  <a:path w="1672082" h="1684528">
                    <a:moveTo>
                      <a:pt x="0" y="278765"/>
                    </a:moveTo>
                    <a:cubicBezTo>
                      <a:pt x="0" y="124841"/>
                      <a:pt x="124714" y="0"/>
                      <a:pt x="278638" y="0"/>
                    </a:cubicBezTo>
                    <a:lnTo>
                      <a:pt x="1393444" y="0"/>
                    </a:lnTo>
                    <a:cubicBezTo>
                      <a:pt x="1547368" y="0"/>
                      <a:pt x="1672082" y="124841"/>
                      <a:pt x="1672082" y="278765"/>
                    </a:cubicBezTo>
                    <a:lnTo>
                      <a:pt x="1672082" y="1405763"/>
                    </a:lnTo>
                    <a:cubicBezTo>
                      <a:pt x="1672082" y="1559687"/>
                      <a:pt x="1547368" y="1684528"/>
                      <a:pt x="1393444" y="1684528"/>
                    </a:cubicBezTo>
                    <a:lnTo>
                      <a:pt x="278638" y="1684528"/>
                    </a:lnTo>
                    <a:cubicBezTo>
                      <a:pt x="124714" y="1684401"/>
                      <a:pt x="0" y="1559687"/>
                      <a:pt x="0" y="1405763"/>
                    </a:cubicBezTo>
                    <a:close/>
                  </a:path>
                </a:pathLst>
              </a:custGeom>
              <a:solidFill>
                <a:srgbClr val="25ACE3"/>
              </a:solidFill>
            </p:spPr>
          </p:sp>
          <p:sp>
            <p:nvSpPr>
              <p:cNvPr id="4" name="Freeform 4"/>
              <p:cNvSpPr/>
              <p:nvPr/>
            </p:nvSpPr>
            <p:spPr>
              <a:xfrm>
                <a:off x="0" y="0"/>
                <a:ext cx="1697482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1697482" h="1709928">
                    <a:moveTo>
                      <a:pt x="0" y="291465"/>
                    </a:moveTo>
                    <a:cubicBezTo>
                      <a:pt x="0" y="130429"/>
                      <a:pt x="130429" y="0"/>
                      <a:pt x="291338" y="0"/>
                    </a:cubicBezTo>
                    <a:lnTo>
                      <a:pt x="1406144" y="0"/>
                    </a:lnTo>
                    <a:lnTo>
                      <a:pt x="1406144" y="12700"/>
                    </a:lnTo>
                    <a:lnTo>
                      <a:pt x="1406144" y="0"/>
                    </a:lnTo>
                    <a:cubicBezTo>
                      <a:pt x="1567053" y="0"/>
                      <a:pt x="1697482" y="130429"/>
                      <a:pt x="1697482" y="291465"/>
                    </a:cubicBezTo>
                    <a:lnTo>
                      <a:pt x="1684782" y="291465"/>
                    </a:lnTo>
                    <a:lnTo>
                      <a:pt x="1697482" y="291465"/>
                    </a:lnTo>
                    <a:lnTo>
                      <a:pt x="1697482" y="1418463"/>
                    </a:lnTo>
                    <a:lnTo>
                      <a:pt x="1684782" y="1418463"/>
                    </a:lnTo>
                    <a:lnTo>
                      <a:pt x="1697482" y="1418463"/>
                    </a:lnTo>
                    <a:cubicBezTo>
                      <a:pt x="1697482" y="1579372"/>
                      <a:pt x="1567053" y="1709928"/>
                      <a:pt x="1406144" y="1709928"/>
                    </a:cubicBezTo>
                    <a:lnTo>
                      <a:pt x="1406144" y="1697228"/>
                    </a:lnTo>
                    <a:lnTo>
                      <a:pt x="1406144" y="1709928"/>
                    </a:lnTo>
                    <a:lnTo>
                      <a:pt x="291338" y="1709928"/>
                    </a:lnTo>
                    <a:lnTo>
                      <a:pt x="291338" y="1697228"/>
                    </a:lnTo>
                    <a:lnTo>
                      <a:pt x="291338" y="1709928"/>
                    </a:lnTo>
                    <a:cubicBezTo>
                      <a:pt x="130429" y="1709801"/>
                      <a:pt x="0" y="1579372"/>
                      <a:pt x="0" y="1418463"/>
                    </a:cubicBezTo>
                    <a:lnTo>
                      <a:pt x="0" y="291465"/>
                    </a:lnTo>
                    <a:lnTo>
                      <a:pt x="12700" y="291465"/>
                    </a:lnTo>
                    <a:lnTo>
                      <a:pt x="0" y="291465"/>
                    </a:lnTo>
                    <a:moveTo>
                      <a:pt x="25400" y="291465"/>
                    </a:moveTo>
                    <a:lnTo>
                      <a:pt x="25400" y="1418463"/>
                    </a:lnTo>
                    <a:lnTo>
                      <a:pt x="12700" y="1418463"/>
                    </a:lnTo>
                    <a:lnTo>
                      <a:pt x="25400" y="1418463"/>
                    </a:lnTo>
                    <a:cubicBezTo>
                      <a:pt x="25400" y="1565402"/>
                      <a:pt x="144526" y="1684528"/>
                      <a:pt x="291338" y="1684528"/>
                    </a:cubicBezTo>
                    <a:lnTo>
                      <a:pt x="1406144" y="1684528"/>
                    </a:lnTo>
                    <a:cubicBezTo>
                      <a:pt x="1553083" y="1684528"/>
                      <a:pt x="1672082" y="1565402"/>
                      <a:pt x="1672082" y="1418463"/>
                    </a:cubicBezTo>
                    <a:lnTo>
                      <a:pt x="1672082" y="291465"/>
                    </a:lnTo>
                    <a:cubicBezTo>
                      <a:pt x="1672082" y="144526"/>
                      <a:pt x="1553083" y="25400"/>
                      <a:pt x="1406144" y="25400"/>
                    </a:cubicBezTo>
                    <a:lnTo>
                      <a:pt x="291338" y="25400"/>
                    </a:lnTo>
                    <a:lnTo>
                      <a:pt x="291338" y="12700"/>
                    </a:lnTo>
                    <a:lnTo>
                      <a:pt x="291338" y="25400"/>
                    </a:lnTo>
                    <a:cubicBezTo>
                      <a:pt x="144526" y="25400"/>
                      <a:pt x="25400" y="144526"/>
                      <a:pt x="25400" y="29146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 rot="-2842425">
              <a:off x="2293677" y="4481493"/>
              <a:ext cx="570920" cy="683385"/>
              <a:chOff x="0" y="0"/>
              <a:chExt cx="761226" cy="9111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1238" cy="911225"/>
              </a:xfrm>
              <a:custGeom>
                <a:avLst/>
                <a:gdLst/>
                <a:ahLst/>
                <a:cxnLst/>
                <a:rect l="l" t="t" r="r" b="b"/>
                <a:pathLst>
                  <a:path w="761238" h="911225">
                    <a:moveTo>
                      <a:pt x="0" y="0"/>
                    </a:moveTo>
                    <a:lnTo>
                      <a:pt x="761238" y="0"/>
                    </a:lnTo>
                    <a:lnTo>
                      <a:pt x="761238" y="911225"/>
                    </a:lnTo>
                    <a:lnTo>
                      <a:pt x="0" y="911225"/>
                    </a:lnTo>
                    <a:close/>
                  </a:path>
                </a:pathLst>
              </a:custGeom>
              <a:solidFill>
                <a:srgbClr val="000099"/>
              </a:solid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3335452" y="3349296"/>
            <a:ext cx="13231941" cy="2171014"/>
            <a:chOff x="0" y="0"/>
            <a:chExt cx="13618792" cy="2234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18792" cy="2234486"/>
            </a:xfrm>
            <a:custGeom>
              <a:avLst/>
              <a:gdLst/>
              <a:ahLst/>
              <a:cxnLst/>
              <a:rect l="l" t="t" r="r" b="b"/>
              <a:pathLst>
                <a:path w="13618792" h="2234486">
                  <a:moveTo>
                    <a:pt x="0" y="0"/>
                  </a:moveTo>
                  <a:lnTo>
                    <a:pt x="13618792" y="0"/>
                  </a:lnTo>
                  <a:lnTo>
                    <a:pt x="13618792" y="2234486"/>
                  </a:lnTo>
                  <a:lnTo>
                    <a:pt x="0" y="2234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618792" cy="22440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720"/>
                </a:lnSpc>
              </a:pPr>
              <a:r>
                <a:rPr lang="en-US" sz="8100" b="1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Thank you for listening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377</Words>
  <Application>Microsoft Office PowerPoint</Application>
  <PresentationFormat>Custom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 (MS) Bold</vt:lpstr>
      <vt:lpstr>K2D Bold</vt:lpstr>
      <vt:lpstr>Readex Pro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Noh.pptx</dc:title>
  <cp:lastModifiedBy>ACER</cp:lastModifiedBy>
  <cp:revision>25</cp:revision>
  <dcterms:created xsi:type="dcterms:W3CDTF">2006-08-16T00:00:00Z</dcterms:created>
  <dcterms:modified xsi:type="dcterms:W3CDTF">2025-12-07T16:16:48Z</dcterms:modified>
  <dc:identifier>DAGlEDFurgc</dc:identifier>
</cp:coreProperties>
</file>